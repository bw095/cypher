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0"/>
            <a:ext cx="12191695" cy="5486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058400" cy="548640"/>
          </a:xfrm>
          <a:prstGeom prst="rect">
            <a:avLst/>
          </a:prstGeom>
          <a:noFill/>
        </p:spPr>
        <p:txBody>
          <a:bodyPr wrap="square">
            <a:spAutoFit/>
          </a:bodyPr>
          <a:lstStyle/>
          <a:p>
            <a:pPr algn="l">
              <a:spcAft>
                <a:spcPts val="600"/>
              </a:spcAft>
              <a:defRPr sz="1400" b="1">
                <a:solidFill>
                  <a:srgbClr val="1E40AF"/>
                </a:solidFill>
                <a:latin typeface="Calibri"/>
              </a:defRPr>
            </a:pPr>
            <a:r>
              <a:t>INDUSTRIAL KNOWLEDGE INTELLIGENCE</a:t>
            </a:r>
          </a:p>
        </p:txBody>
      </p:sp>
      <p:sp>
        <p:nvSpPr>
          <p:cNvPr id="4" name="TextBox 3"/>
          <p:cNvSpPr txBox="1"/>
          <p:nvPr/>
        </p:nvSpPr>
        <p:spPr>
          <a:xfrm>
            <a:off x="731520" y="1645920"/>
            <a:ext cx="10058400" cy="1828800"/>
          </a:xfrm>
          <a:prstGeom prst="rect">
            <a:avLst/>
          </a:prstGeom>
          <a:noFill/>
        </p:spPr>
        <p:txBody>
          <a:bodyPr wrap="square">
            <a:spAutoFit/>
          </a:bodyPr>
          <a:lstStyle/>
          <a:p>
            <a:pPr algn="l">
              <a:spcAft>
                <a:spcPts val="600"/>
              </a:spcAft>
              <a:defRPr sz="7200" b="1">
                <a:solidFill>
                  <a:srgbClr val="0F172A"/>
                </a:solidFill>
                <a:latin typeface="Calibri"/>
              </a:defRPr>
            </a:pPr>
            <a:r>
              <a:t>CYPHER</a:t>
            </a:r>
          </a:p>
          <a:p>
            <a:pPr algn="l">
              <a:spcBef>
                <a:spcPts val="0"/>
              </a:spcBef>
              <a:spcAft>
                <a:spcPts val="600"/>
              </a:spcAft>
              <a:defRPr sz="3600" b="0">
                <a:solidFill>
                  <a:srgbClr val="0F766E"/>
                </a:solidFill>
                <a:latin typeface="Calibri"/>
              </a:defRPr>
            </a:pPr>
            <a:r>
              <a:t>Unified Asset &amp; Operations Brain</a:t>
            </a:r>
          </a:p>
        </p:txBody>
      </p:sp>
      <p:sp>
        <p:nvSpPr>
          <p:cNvPr id="5" name="Rectangle 4"/>
          <p:cNvSpPr/>
          <p:nvPr/>
        </p:nvSpPr>
        <p:spPr>
          <a:xfrm>
            <a:off x="731520" y="3840480"/>
            <a:ext cx="36576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206240"/>
            <a:ext cx="9144000" cy="1371600"/>
          </a:xfrm>
          <a:prstGeom prst="rect">
            <a:avLst/>
          </a:prstGeom>
          <a:noFill/>
        </p:spPr>
        <p:txBody>
          <a:bodyPr wrap="square">
            <a:spAutoFit/>
          </a:bodyPr>
          <a:lstStyle/>
          <a:p>
            <a:pPr algn="l">
              <a:spcAft>
                <a:spcPts val="600"/>
              </a:spcAft>
              <a:defRPr sz="2200" b="0">
                <a:solidFill>
                  <a:srgbClr val="334155"/>
                </a:solidFill>
                <a:latin typeface="Calibri"/>
              </a:defRPr>
            </a:pPr>
            <a:r>
              <a:t>An AI-powered platform transforming heterogeneous documents into actionable knowledge.</a:t>
            </a:r>
          </a:p>
          <a:p>
            <a:pPr algn="l">
              <a:spcBef>
                <a:spcPts val="0"/>
              </a:spcBef>
              <a:spcAft>
                <a:spcPts val="1200"/>
              </a:spcAft>
              <a:defRPr sz="1600" b="0">
                <a:solidFill>
                  <a:srgbClr val="64748B"/>
                </a:solidFill>
                <a:latin typeface="Calibri"/>
              </a:defRPr>
            </a:pPr>
            <a:r>
              <a:t>Overcoming the industrial knowledge cliff with Edge-AI, RAG, and Graph computing.</a:t>
            </a:r>
          </a:p>
        </p:txBody>
      </p:sp>
      <p:sp>
        <p:nvSpPr>
          <p:cNvPr id="7" name="Rounded Rectangle 6"/>
          <p:cNvSpPr/>
          <p:nvPr/>
        </p:nvSpPr>
        <p:spPr>
          <a:xfrm>
            <a:off x="731520" y="5669280"/>
            <a:ext cx="5029200" cy="4572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1E40AF"/>
                </a:solidFill>
                <a:latin typeface="Calibri"/>
              </a:defRPr>
            </a:pPr>
            <a:r>
              <a:t>Document Management  ·  Knowledge Engineering  ·  Quality</a:t>
            </a:r>
          </a:p>
        </p:txBody>
      </p:sp>
      <p:sp>
        <p:nvSpPr>
          <p:cNvPr id="8" name="TextBox 7"/>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 /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1E40AF"/>
                </a:solidFill>
                <a:latin typeface="Calibri"/>
              </a:defRPr>
            </a:pPr>
            <a:r>
              <a:t>01</a:t>
            </a:r>
          </a:p>
        </p:txBody>
      </p:sp>
      <p:sp>
        <p:nvSpPr>
          <p:cNvPr id="3" name="Rectangle 2"/>
          <p:cNvSpPr/>
          <p:nvPr/>
        </p:nvSpPr>
        <p:spPr>
          <a:xfrm>
            <a:off x="731520" y="301752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About The Team</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The creators behind the Cypher knowledge intelligence platform.</a:t>
            </a:r>
          </a:p>
        </p:txBody>
      </p:sp>
      <p:sp>
        <p:nvSpPr>
          <p:cNvPr id="6" name="Rounded Rectangle 5"/>
          <p:cNvSpPr/>
          <p:nvPr/>
        </p:nvSpPr>
        <p:spPr>
          <a:xfrm>
            <a:off x="11704320" y="0"/>
            <a:ext cx="487375" cy="685800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 /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Team Overview</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2011680"/>
            <a:ext cx="4114800" cy="41148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2743200" y="2377440"/>
            <a:ext cx="1371600" cy="1371600"/>
          </a:xfrm>
          <a:prstGeom prst="ellipse">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6" name="TextBox 5"/>
          <p:cNvSpPr txBox="1"/>
          <p:nvPr/>
        </p:nvSpPr>
        <p:spPr>
          <a:xfrm>
            <a:off x="1371600" y="3931920"/>
            <a:ext cx="4114800" cy="457200"/>
          </a:xfrm>
          <a:prstGeom prst="rect">
            <a:avLst/>
          </a:prstGeom>
          <a:noFill/>
        </p:spPr>
        <p:txBody>
          <a:bodyPr wrap="square">
            <a:spAutoFit/>
          </a:bodyPr>
          <a:lstStyle/>
          <a:p>
            <a:pPr algn="ctr">
              <a:spcAft>
                <a:spcPts val="600"/>
              </a:spcAft>
              <a:defRPr sz="2000" b="1">
                <a:solidFill>
                  <a:srgbClr val="0F172A"/>
                </a:solidFill>
                <a:latin typeface="Calibri"/>
              </a:defRPr>
            </a:pPr>
            <a:r>
              <a:t>Team Member 1</a:t>
            </a:r>
          </a:p>
        </p:txBody>
      </p:sp>
      <p:sp>
        <p:nvSpPr>
          <p:cNvPr id="7" name="TextBox 6"/>
          <p:cNvSpPr txBox="1"/>
          <p:nvPr/>
        </p:nvSpPr>
        <p:spPr>
          <a:xfrm>
            <a:off x="1371600" y="4389120"/>
            <a:ext cx="4114800" cy="365760"/>
          </a:xfrm>
          <a:prstGeom prst="rect">
            <a:avLst/>
          </a:prstGeom>
          <a:noFill/>
        </p:spPr>
        <p:txBody>
          <a:bodyPr wrap="square">
            <a:spAutoFit/>
          </a:bodyPr>
          <a:lstStyle/>
          <a:p>
            <a:pPr algn="ctr">
              <a:spcAft>
                <a:spcPts val="600"/>
              </a:spcAft>
              <a:defRPr sz="1600" b="1">
                <a:solidFill>
                  <a:srgbClr val="0F766E"/>
                </a:solidFill>
                <a:latin typeface="Calibri"/>
              </a:defRPr>
            </a:pPr>
            <a:r>
              <a:t>AI &amp; Backend Lead</a:t>
            </a:r>
          </a:p>
        </p:txBody>
      </p:sp>
      <p:sp>
        <p:nvSpPr>
          <p:cNvPr id="8" name="TextBox 7"/>
          <p:cNvSpPr txBox="1"/>
          <p:nvPr/>
        </p:nvSpPr>
        <p:spPr>
          <a:xfrm>
            <a:off x="1828800" y="4846320"/>
            <a:ext cx="3200400" cy="914400"/>
          </a:xfrm>
          <a:prstGeom prst="rect">
            <a:avLst/>
          </a:prstGeom>
          <a:noFill/>
        </p:spPr>
        <p:txBody>
          <a:bodyPr wrap="square">
            <a:spAutoFit/>
          </a:bodyPr>
          <a:lstStyle/>
          <a:p>
            <a:pPr algn="ctr">
              <a:spcAft>
                <a:spcPts val="600"/>
              </a:spcAft>
              <a:defRPr sz="1200" b="0">
                <a:solidFill>
                  <a:srgbClr val="334155"/>
                </a:solidFill>
                <a:latin typeface="Calibri"/>
              </a:defRPr>
            </a:pPr>
            <a:r>
              <a:t>[ Replace with Photo ]</a:t>
            </a:r>
            <a:br/>
            <a:br/>
            <a:r>
              <a:t>Expertise in Edge-AI deployment, LLMs, and asynchronous API architecture.</a:t>
            </a:r>
          </a:p>
        </p:txBody>
      </p:sp>
      <p:sp>
        <p:nvSpPr>
          <p:cNvPr id="9" name="Rounded Rectangle 8"/>
          <p:cNvSpPr/>
          <p:nvPr/>
        </p:nvSpPr>
        <p:spPr>
          <a:xfrm>
            <a:off x="6400800" y="2011680"/>
            <a:ext cx="4114800" cy="41148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0" y="2377440"/>
            <a:ext cx="1371600" cy="1371600"/>
          </a:xfrm>
          <a:prstGeom prst="ellipse">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800"/>
            </a:pPr>
            <a:r>
              <a:t>📷</a:t>
            </a:r>
          </a:p>
        </p:txBody>
      </p:sp>
      <p:sp>
        <p:nvSpPr>
          <p:cNvPr id="11" name="TextBox 10"/>
          <p:cNvSpPr txBox="1"/>
          <p:nvPr/>
        </p:nvSpPr>
        <p:spPr>
          <a:xfrm>
            <a:off x="6400800" y="3931920"/>
            <a:ext cx="4114800" cy="457200"/>
          </a:xfrm>
          <a:prstGeom prst="rect">
            <a:avLst/>
          </a:prstGeom>
          <a:noFill/>
        </p:spPr>
        <p:txBody>
          <a:bodyPr wrap="square">
            <a:spAutoFit/>
          </a:bodyPr>
          <a:lstStyle/>
          <a:p>
            <a:pPr algn="ctr">
              <a:spcAft>
                <a:spcPts val="600"/>
              </a:spcAft>
              <a:defRPr sz="2000" b="1">
                <a:solidFill>
                  <a:srgbClr val="0F172A"/>
                </a:solidFill>
                <a:latin typeface="Calibri"/>
              </a:defRPr>
            </a:pPr>
            <a:r>
              <a:t>Team Member 2</a:t>
            </a:r>
          </a:p>
        </p:txBody>
      </p:sp>
      <p:sp>
        <p:nvSpPr>
          <p:cNvPr id="12" name="TextBox 11"/>
          <p:cNvSpPr txBox="1"/>
          <p:nvPr/>
        </p:nvSpPr>
        <p:spPr>
          <a:xfrm>
            <a:off x="6400800" y="4389120"/>
            <a:ext cx="4114800" cy="365760"/>
          </a:xfrm>
          <a:prstGeom prst="rect">
            <a:avLst/>
          </a:prstGeom>
          <a:noFill/>
        </p:spPr>
        <p:txBody>
          <a:bodyPr wrap="square">
            <a:spAutoFit/>
          </a:bodyPr>
          <a:lstStyle/>
          <a:p>
            <a:pPr algn="ctr">
              <a:spcAft>
                <a:spcPts val="600"/>
              </a:spcAft>
              <a:defRPr sz="1600" b="1">
                <a:solidFill>
                  <a:srgbClr val="0F766E"/>
                </a:solidFill>
                <a:latin typeface="Calibri"/>
              </a:defRPr>
            </a:pPr>
            <a:r>
              <a:t>Graph &amp; Frontend Lead</a:t>
            </a:r>
          </a:p>
        </p:txBody>
      </p:sp>
      <p:sp>
        <p:nvSpPr>
          <p:cNvPr id="13" name="TextBox 12"/>
          <p:cNvSpPr txBox="1"/>
          <p:nvPr/>
        </p:nvSpPr>
        <p:spPr>
          <a:xfrm>
            <a:off x="6858000" y="4846320"/>
            <a:ext cx="3200400" cy="914400"/>
          </a:xfrm>
          <a:prstGeom prst="rect">
            <a:avLst/>
          </a:prstGeom>
          <a:noFill/>
        </p:spPr>
        <p:txBody>
          <a:bodyPr wrap="square">
            <a:spAutoFit/>
          </a:bodyPr>
          <a:lstStyle/>
          <a:p>
            <a:pPr algn="ctr">
              <a:spcAft>
                <a:spcPts val="600"/>
              </a:spcAft>
              <a:defRPr sz="1200" b="0">
                <a:solidFill>
                  <a:srgbClr val="334155"/>
                </a:solidFill>
                <a:latin typeface="Calibri"/>
              </a:defRPr>
            </a:pPr>
            <a:r>
              <a:t>[ Replace with Photo ]</a:t>
            </a:r>
            <a:br/>
            <a:br/>
            <a:r>
              <a:t>Expertise in Knowledge Graphs (Neo4j), React UI, and data visualization.</a:t>
            </a:r>
          </a:p>
        </p:txBody>
      </p:sp>
      <p:sp>
        <p:nvSpPr>
          <p:cNvPr id="14" name="TextBox 13"/>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3 /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Division of Expertise</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0"/>
            <a:ext cx="5303520" cy="27432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560320"/>
            <a:ext cx="4572000" cy="548640"/>
          </a:xfrm>
          <a:prstGeom prst="rect">
            <a:avLst/>
          </a:prstGeom>
          <a:noFill/>
        </p:spPr>
        <p:txBody>
          <a:bodyPr wrap="square">
            <a:spAutoFit/>
          </a:bodyPr>
          <a:lstStyle/>
          <a:p>
            <a:pPr algn="l">
              <a:spcAft>
                <a:spcPts val="600"/>
              </a:spcAft>
              <a:defRPr sz="2000" b="1">
                <a:solidFill>
                  <a:srgbClr val="0F766E"/>
                </a:solidFill>
                <a:latin typeface="Calibri"/>
              </a:defRPr>
            </a:pPr>
            <a:r>
              <a:t>Member 1 Focus</a:t>
            </a:r>
          </a:p>
        </p:txBody>
      </p:sp>
      <p:sp>
        <p:nvSpPr>
          <p:cNvPr id="6" name="TextBox 5"/>
          <p:cNvSpPr txBox="1"/>
          <p:nvPr/>
        </p:nvSpPr>
        <p:spPr>
          <a:xfrm>
            <a:off x="1188720" y="3200400"/>
            <a:ext cx="4572000" cy="1645920"/>
          </a:xfrm>
          <a:prstGeom prst="rect">
            <a:avLst/>
          </a:prstGeom>
          <a:noFill/>
        </p:spPr>
        <p:txBody>
          <a:bodyPr wrap="square">
            <a:spAutoFit/>
          </a:bodyPr>
          <a:lstStyle/>
          <a:p/>
          <a:p>
            <a:pPr algn="l">
              <a:spcBef>
                <a:spcPts val="0"/>
              </a:spcBef>
              <a:spcAft>
                <a:spcPts val="600"/>
              </a:spcAft>
              <a:defRPr sz="1400" b="0">
                <a:solidFill>
                  <a:srgbClr val="334155"/>
                </a:solidFill>
                <a:latin typeface="Calibri"/>
              </a:defRPr>
            </a:pPr>
            <a:r>
              <a:t>• Architected FastAPI asynchronous backend</a:t>
            </a:r>
          </a:p>
          <a:p>
            <a:pPr algn="l">
              <a:spcBef>
                <a:spcPts val="0"/>
              </a:spcBef>
              <a:spcAft>
                <a:spcPts val="600"/>
              </a:spcAft>
              <a:defRPr sz="1400" b="0">
                <a:solidFill>
                  <a:srgbClr val="334155"/>
                </a:solidFill>
                <a:latin typeface="Calibri"/>
              </a:defRPr>
            </a:pPr>
            <a:r>
              <a:t>• Integrated Llama.cpp and Qwen VLM models</a:t>
            </a:r>
          </a:p>
          <a:p>
            <a:pPr algn="l">
              <a:spcBef>
                <a:spcPts val="0"/>
              </a:spcBef>
              <a:spcAft>
                <a:spcPts val="600"/>
              </a:spcAft>
              <a:defRPr sz="1400" b="0">
                <a:solidFill>
                  <a:srgbClr val="334155"/>
                </a:solidFill>
                <a:latin typeface="Calibri"/>
              </a:defRPr>
            </a:pPr>
            <a:r>
              <a:t>• Developed vector retrieval logic (Qdrant)</a:t>
            </a:r>
          </a:p>
          <a:p>
            <a:pPr algn="l">
              <a:spcBef>
                <a:spcPts val="0"/>
              </a:spcBef>
              <a:spcAft>
                <a:spcPts val="600"/>
              </a:spcAft>
              <a:defRPr sz="1400" b="0">
                <a:solidFill>
                  <a:srgbClr val="334155"/>
                </a:solidFill>
                <a:latin typeface="Calibri"/>
              </a:defRPr>
            </a:pPr>
            <a:r>
              <a:t>• Implemented document ingestion pipeline</a:t>
            </a:r>
          </a:p>
        </p:txBody>
      </p:sp>
      <p:sp>
        <p:nvSpPr>
          <p:cNvPr id="7" name="Rounded Rectangle 6"/>
          <p:cNvSpPr/>
          <p:nvPr/>
        </p:nvSpPr>
        <p:spPr>
          <a:xfrm>
            <a:off x="6309359" y="2286000"/>
            <a:ext cx="5303520" cy="27432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66559" y="2560320"/>
            <a:ext cx="4572000" cy="548640"/>
          </a:xfrm>
          <a:prstGeom prst="rect">
            <a:avLst/>
          </a:prstGeom>
          <a:noFill/>
        </p:spPr>
        <p:txBody>
          <a:bodyPr wrap="square">
            <a:spAutoFit/>
          </a:bodyPr>
          <a:lstStyle/>
          <a:p>
            <a:pPr algn="l">
              <a:spcAft>
                <a:spcPts val="600"/>
              </a:spcAft>
              <a:defRPr sz="2000" b="1">
                <a:solidFill>
                  <a:srgbClr val="1E40AF"/>
                </a:solidFill>
                <a:latin typeface="Calibri"/>
              </a:defRPr>
            </a:pPr>
            <a:r>
              <a:t>Member 2 Focus</a:t>
            </a:r>
          </a:p>
        </p:txBody>
      </p:sp>
      <p:sp>
        <p:nvSpPr>
          <p:cNvPr id="9" name="TextBox 8"/>
          <p:cNvSpPr txBox="1"/>
          <p:nvPr/>
        </p:nvSpPr>
        <p:spPr>
          <a:xfrm>
            <a:off x="6766559" y="3200400"/>
            <a:ext cx="4572000" cy="1645920"/>
          </a:xfrm>
          <a:prstGeom prst="rect">
            <a:avLst/>
          </a:prstGeom>
          <a:noFill/>
        </p:spPr>
        <p:txBody>
          <a:bodyPr wrap="square">
            <a:spAutoFit/>
          </a:bodyPr>
          <a:lstStyle/>
          <a:p/>
          <a:p>
            <a:pPr algn="l">
              <a:spcBef>
                <a:spcPts val="0"/>
              </a:spcBef>
              <a:spcAft>
                <a:spcPts val="600"/>
              </a:spcAft>
              <a:defRPr sz="1400" b="0">
                <a:solidFill>
                  <a:srgbClr val="334155"/>
                </a:solidFill>
                <a:latin typeface="Calibri"/>
              </a:defRPr>
            </a:pPr>
            <a:r>
              <a:t>• Designed Knowledge Graph schema (Neo4j)</a:t>
            </a:r>
          </a:p>
          <a:p>
            <a:pPr algn="l">
              <a:spcBef>
                <a:spcPts val="0"/>
              </a:spcBef>
              <a:spcAft>
                <a:spcPts val="600"/>
              </a:spcAft>
              <a:defRPr sz="1400" b="0">
                <a:solidFill>
                  <a:srgbClr val="334155"/>
                </a:solidFill>
                <a:latin typeface="Calibri"/>
              </a:defRPr>
            </a:pPr>
            <a:r>
              <a:t>• Built the React dashboard and UI</a:t>
            </a:r>
          </a:p>
          <a:p>
            <a:pPr algn="l">
              <a:spcBef>
                <a:spcPts val="0"/>
              </a:spcBef>
              <a:spcAft>
                <a:spcPts val="600"/>
              </a:spcAft>
              <a:defRPr sz="1400" b="0">
                <a:solidFill>
                  <a:srgbClr val="334155"/>
                </a:solidFill>
                <a:latin typeface="Calibri"/>
              </a:defRPr>
            </a:pPr>
            <a:r>
              <a:t>• Developed graph-based entity visualization</a:t>
            </a:r>
          </a:p>
          <a:p>
            <a:pPr algn="l">
              <a:spcBef>
                <a:spcPts val="0"/>
              </a:spcBef>
              <a:spcAft>
                <a:spcPts val="600"/>
              </a:spcAft>
              <a:defRPr sz="1400" b="0">
                <a:solidFill>
                  <a:srgbClr val="334155"/>
                </a:solidFill>
                <a:latin typeface="Calibri"/>
              </a:defRPr>
            </a:pPr>
            <a:r>
              <a:t>• Handled deployment and Docker orchestration</a:t>
            </a:r>
          </a:p>
        </p:txBody>
      </p:sp>
      <p:sp>
        <p:nvSpPr>
          <p:cNvPr id="10" name="TextBox 9"/>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4 /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Vision &amp; Mission</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0"/>
            <a:ext cx="10515600" cy="22860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560320"/>
            <a:ext cx="9875520" cy="1463040"/>
          </a:xfrm>
          <a:prstGeom prst="rect">
            <a:avLst/>
          </a:prstGeom>
          <a:noFill/>
        </p:spPr>
        <p:txBody>
          <a:bodyPr wrap="square">
            <a:spAutoFit/>
          </a:bodyPr>
          <a:lstStyle/>
          <a:p>
            <a:pPr algn="l">
              <a:spcAft>
                <a:spcPts val="600"/>
              </a:spcAft>
              <a:defRPr sz="2400" b="1">
                <a:solidFill>
                  <a:srgbClr val="0F766E"/>
                </a:solidFill>
                <a:latin typeface="Calibri"/>
              </a:defRPr>
            </a:pPr>
            <a:r>
              <a:t>Our Mission</a:t>
            </a:r>
          </a:p>
          <a:p>
            <a:pPr algn="l">
              <a:spcBef>
                <a:spcPts val="1200"/>
              </a:spcBef>
              <a:spcAft>
                <a:spcPts val="600"/>
              </a:spcAft>
              <a:defRPr sz="1800" b="0">
                <a:solidFill>
                  <a:srgbClr val="334155"/>
                </a:solidFill>
                <a:latin typeface="Calibri"/>
              </a:defRPr>
            </a:pPr>
            <a:r>
              <a:t>To solve the industrial knowledge fragmentation crisis by empowering manufacturing and energy companies with an autonomous AI copilot that democratizes access to technical documentation, reducing downtime, and securing institutional knowledge for the future.</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5 /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B91C1C"/>
                </a:solidFill>
                <a:latin typeface="Calibri"/>
              </a:defRPr>
            </a:pPr>
            <a:r>
              <a:t>02</a:t>
            </a:r>
          </a:p>
        </p:txBody>
      </p:sp>
      <p:sp>
        <p:nvSpPr>
          <p:cNvPr id="3" name="Rectangle 2"/>
          <p:cNvSpPr/>
          <p:nvPr/>
        </p:nvSpPr>
        <p:spPr>
          <a:xfrm>
            <a:off x="731520" y="301752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Problem Statement</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The cost of fragmented industrial knowledge and the incoming knowledge cliff.</a:t>
            </a:r>
          </a:p>
        </p:txBody>
      </p:sp>
      <p:sp>
        <p:nvSpPr>
          <p:cNvPr id="6" name="Rounded Rectangle 5"/>
          <p:cNvSpPr/>
          <p:nvPr/>
        </p:nvSpPr>
        <p:spPr>
          <a:xfrm>
            <a:off x="11704320" y="0"/>
            <a:ext cx="487375" cy="685800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6 /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The Industrial Knowledge Crisis</a:t>
            </a:r>
          </a:p>
        </p:txBody>
      </p:sp>
      <p:sp>
        <p:nvSpPr>
          <p:cNvPr id="3" name="Rectangle 2"/>
          <p:cNvSpPr/>
          <p:nvPr/>
        </p:nvSpPr>
        <p:spPr>
          <a:xfrm>
            <a:off x="731520" y="109728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5029200" cy="3657600"/>
          </a:xfrm>
          <a:prstGeom prst="rect">
            <a:avLst/>
          </a:prstGeom>
          <a:noFill/>
        </p:spPr>
        <p:txBody>
          <a:bodyPr wrap="square">
            <a:spAutoFit/>
          </a:bodyPr>
          <a:lstStyle/>
          <a:p>
            <a:pPr algn="l">
              <a:spcAft>
                <a:spcPts val="600"/>
              </a:spcAft>
              <a:defRPr sz="2000" b="1">
                <a:solidFill>
                  <a:srgbClr val="B91C1C"/>
                </a:solidFill>
                <a:latin typeface="Calibri"/>
              </a:defRPr>
            </a:pPr>
            <a:r>
              <a:t>Information Fragmentation</a:t>
            </a:r>
          </a:p>
          <a:p>
            <a:pPr algn="l">
              <a:spcBef>
                <a:spcPts val="800"/>
              </a:spcBef>
              <a:spcAft>
                <a:spcPts val="600"/>
              </a:spcAft>
              <a:defRPr sz="1600" b="0">
                <a:solidFill>
                  <a:srgbClr val="334155"/>
                </a:solidFill>
                <a:latin typeface="Calibri"/>
              </a:defRPr>
            </a:pPr>
            <a:r>
              <a:t>Large plants operate across 7 to 12 disconnected document systems. P&amp;IDs in one place, maintenance orders in another, inspection records in a third.</a:t>
            </a:r>
          </a:p>
          <a:p>
            <a:pPr algn="l">
              <a:spcBef>
                <a:spcPts val="800"/>
              </a:spcBef>
              <a:spcAft>
                <a:spcPts val="600"/>
              </a:spcAft>
              <a:defRPr sz="1600" b="0">
                <a:solidFill>
                  <a:srgbClr val="334155"/>
                </a:solidFill>
                <a:latin typeface="Calibri"/>
              </a:defRPr>
            </a:pPr>
            <a:r>
              <a:t>A 2024 McKinsey global survey found that professionals in asset-intensive industries spend a massive portion of their week just looking for data.</a:t>
            </a:r>
          </a:p>
        </p:txBody>
      </p:sp>
      <p:sp>
        <p:nvSpPr>
          <p:cNvPr id="5" name="Rounded Rectangle 4"/>
          <p:cNvSpPr/>
          <p:nvPr/>
        </p:nvSpPr>
        <p:spPr>
          <a:xfrm>
            <a:off x="6400800" y="2286000"/>
            <a:ext cx="4114800" cy="2286000"/>
          </a:xfrm>
          <a:prstGeom prst="roundRect">
            <a:avLst/>
          </a:prstGeom>
          <a:solidFill>
            <a:srgbClr val="F1F5F9"/>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0" y="2743200"/>
            <a:ext cx="3749039" cy="914400"/>
          </a:xfrm>
          <a:prstGeom prst="rect">
            <a:avLst/>
          </a:prstGeom>
          <a:noFill/>
        </p:spPr>
        <p:txBody>
          <a:bodyPr wrap="square">
            <a:spAutoFit/>
          </a:bodyPr>
          <a:lstStyle/>
          <a:p>
            <a:pPr algn="ctr">
              <a:spcAft>
                <a:spcPts val="600"/>
              </a:spcAft>
              <a:defRPr sz="6000" b="1">
                <a:solidFill>
                  <a:srgbClr val="B91C1C"/>
                </a:solidFill>
                <a:latin typeface="Calibri"/>
              </a:defRPr>
            </a:pPr>
            <a:r>
              <a:t>35%</a:t>
            </a:r>
          </a:p>
        </p:txBody>
      </p:sp>
      <p:sp>
        <p:nvSpPr>
          <p:cNvPr id="7" name="TextBox 6"/>
          <p:cNvSpPr txBox="1"/>
          <p:nvPr/>
        </p:nvSpPr>
        <p:spPr>
          <a:xfrm>
            <a:off x="6583680" y="3657600"/>
            <a:ext cx="3749039" cy="457200"/>
          </a:xfrm>
          <a:prstGeom prst="rect">
            <a:avLst/>
          </a:prstGeom>
          <a:noFill/>
        </p:spPr>
        <p:txBody>
          <a:bodyPr wrap="square">
            <a:spAutoFit/>
          </a:bodyPr>
          <a:lstStyle/>
          <a:p>
            <a:pPr algn="ctr">
              <a:spcAft>
                <a:spcPts val="600"/>
              </a:spcAft>
              <a:defRPr sz="1400" b="1">
                <a:solidFill>
                  <a:srgbClr val="0F172A"/>
                </a:solidFill>
                <a:latin typeface="Calibri"/>
              </a:defRPr>
            </a:pPr>
            <a:r>
              <a:t>of working hours spent searching for info or clarifying instructions</a:t>
            </a:r>
          </a:p>
        </p:txBody>
      </p:sp>
      <p:sp>
        <p:nvSpPr>
          <p:cNvPr id="8" name="TextBox 7"/>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7 /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The Knowledge Cliff</a:t>
            </a:r>
          </a:p>
        </p:txBody>
      </p:sp>
      <p:sp>
        <p:nvSpPr>
          <p:cNvPr id="3" name="Rectangle 2"/>
          <p:cNvSpPr/>
          <p:nvPr/>
        </p:nvSpPr>
        <p:spPr>
          <a:xfrm>
            <a:off x="731520" y="1097280"/>
            <a:ext cx="1828800" cy="25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371600"/>
          </a:xfrm>
          <a:prstGeom prst="rect">
            <a:avLst/>
          </a:prstGeom>
          <a:noFill/>
        </p:spPr>
        <p:txBody>
          <a:bodyPr wrap="square">
            <a:spAutoFit/>
          </a:bodyPr>
          <a:lstStyle/>
          <a:p>
            <a:pPr algn="l">
              <a:spcAft>
                <a:spcPts val="600"/>
              </a:spcAft>
              <a:defRPr sz="2000" b="1">
                <a:solidFill>
                  <a:srgbClr val="0F172A"/>
                </a:solidFill>
                <a:latin typeface="Calibri"/>
              </a:defRPr>
            </a:pPr>
            <a:r>
              <a:t>An estimated 25% of India's experienced industrial engineers and operators will retire within the next decade.</a:t>
            </a:r>
          </a:p>
          <a:p>
            <a:pPr algn="l">
              <a:spcBef>
                <a:spcPts val="1000"/>
              </a:spcBef>
              <a:spcAft>
                <a:spcPts val="600"/>
              </a:spcAft>
              <a:defRPr sz="1600" b="0">
                <a:solidFill>
                  <a:srgbClr val="334155"/>
                </a:solidFill>
                <a:latin typeface="Calibri"/>
              </a:defRPr>
            </a:pPr>
            <a:r>
              <a:t>They will take decades of undocumented operational knowledge, intuition, and failure pattern recognition with them. Once this knowledge leaves the factory floor, it cannot be easily recovered.</a:t>
            </a:r>
          </a:p>
        </p:txBody>
      </p:sp>
      <p:sp>
        <p:nvSpPr>
          <p:cNvPr id="5" name="Rounded Rectangle 4"/>
          <p:cNvSpPr/>
          <p:nvPr/>
        </p:nvSpPr>
        <p:spPr>
          <a:xfrm>
            <a:off x="731520" y="3657600"/>
            <a:ext cx="10515600" cy="18288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931920"/>
            <a:ext cx="9875520" cy="1371600"/>
          </a:xfrm>
          <a:prstGeom prst="rect">
            <a:avLst/>
          </a:prstGeom>
          <a:noFill/>
        </p:spPr>
        <p:txBody>
          <a:bodyPr wrap="square">
            <a:spAutoFit/>
          </a:bodyPr>
          <a:lstStyle/>
          <a:p>
            <a:pPr algn="l">
              <a:spcAft>
                <a:spcPts val="600"/>
              </a:spcAft>
              <a:defRPr sz="1800" b="1">
                <a:solidFill>
                  <a:srgbClr val="B45309"/>
                </a:solidFill>
                <a:latin typeface="Calibri"/>
              </a:defRPr>
            </a:pPr>
            <a:r>
              <a:t>The Consequence</a:t>
            </a:r>
          </a:p>
          <a:p>
            <a:pPr algn="l">
              <a:spcBef>
                <a:spcPts val="800"/>
              </a:spcBef>
              <a:spcAft>
                <a:spcPts val="600"/>
              </a:spcAft>
              <a:defRPr sz="1600" b="0">
                <a:solidFill>
                  <a:srgbClr val="334155"/>
                </a:solidFill>
                <a:latin typeface="Calibri"/>
              </a:defRPr>
            </a:pPr>
            <a:r>
              <a:t>New hires rely on outdated or scattered manuals. Troubleshooting that took a veteran 10 minutes takes a new operator hours because the context is lost.</a:t>
            </a: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8 /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Impact of Fragmentation</a:t>
            </a:r>
          </a:p>
        </p:txBody>
      </p:sp>
      <p:sp>
        <p:nvSpPr>
          <p:cNvPr id="3" name="Rectangle 2"/>
          <p:cNvSpPr/>
          <p:nvPr/>
        </p:nvSpPr>
        <p:spPr>
          <a:xfrm>
            <a:off x="731520" y="109728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914400"/>
          </a:xfrm>
          <a:prstGeom prst="rect">
            <a:avLst/>
          </a:prstGeom>
          <a:noFill/>
        </p:spPr>
        <p:txBody>
          <a:bodyPr wrap="square">
            <a:spAutoFit/>
          </a:bodyPr>
          <a:lstStyle/>
          <a:p>
            <a:pPr algn="l">
              <a:spcAft>
                <a:spcPts val="600"/>
              </a:spcAft>
              <a:defRPr sz="2400" b="1">
                <a:solidFill>
                  <a:srgbClr val="B91C1C"/>
                </a:solidFill>
                <a:latin typeface="Calibri"/>
              </a:defRPr>
            </a:pPr>
            <a:r>
              <a:t>Knowledge fragmentation is not just a file management problem.</a:t>
            </a:r>
          </a:p>
        </p:txBody>
      </p:sp>
      <p:sp>
        <p:nvSpPr>
          <p:cNvPr id="5" name="Rounded Rectangle 4"/>
          <p:cNvSpPr/>
          <p:nvPr/>
        </p:nvSpPr>
        <p:spPr>
          <a:xfrm>
            <a:off x="731520" y="3200400"/>
            <a:ext cx="3291840" cy="201168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74720"/>
            <a:ext cx="2926080" cy="457200"/>
          </a:xfrm>
          <a:prstGeom prst="rect">
            <a:avLst/>
          </a:prstGeom>
          <a:noFill/>
        </p:spPr>
        <p:txBody>
          <a:bodyPr wrap="square">
            <a:spAutoFit/>
          </a:bodyPr>
          <a:lstStyle/>
          <a:p>
            <a:pPr algn="ctr">
              <a:spcAft>
                <a:spcPts val="600"/>
              </a:spcAft>
              <a:defRPr sz="1800" b="1">
                <a:solidFill>
                  <a:srgbClr val="B45309"/>
                </a:solidFill>
                <a:latin typeface="Calibri"/>
              </a:defRPr>
            </a:pPr>
            <a:r>
              <a:t>Safety Risks</a:t>
            </a:r>
          </a:p>
        </p:txBody>
      </p:sp>
      <p:sp>
        <p:nvSpPr>
          <p:cNvPr id="7" name="TextBox 6"/>
          <p:cNvSpPr txBox="1"/>
          <p:nvPr/>
        </p:nvSpPr>
        <p:spPr>
          <a:xfrm>
            <a:off x="914400" y="4023360"/>
            <a:ext cx="2926080" cy="914400"/>
          </a:xfrm>
          <a:prstGeom prst="rect">
            <a:avLst/>
          </a:prstGeom>
          <a:noFill/>
        </p:spPr>
        <p:txBody>
          <a:bodyPr wrap="square">
            <a:spAutoFit/>
          </a:bodyPr>
          <a:lstStyle/>
          <a:p>
            <a:pPr algn="ctr">
              <a:spcAft>
                <a:spcPts val="600"/>
              </a:spcAft>
              <a:defRPr sz="1400" b="0">
                <a:solidFill>
                  <a:srgbClr val="334155"/>
                </a:solidFill>
                <a:latin typeface="Calibri"/>
              </a:defRPr>
            </a:pPr>
            <a:r>
              <a:t>Decisions made without full equipment history or hazard warnings.</a:t>
            </a:r>
          </a:p>
        </p:txBody>
      </p:sp>
      <p:sp>
        <p:nvSpPr>
          <p:cNvPr id="8" name="Rounded Rectangle 7"/>
          <p:cNvSpPr/>
          <p:nvPr/>
        </p:nvSpPr>
        <p:spPr>
          <a:xfrm>
            <a:off x="4389120" y="3200400"/>
            <a:ext cx="3291840" cy="201168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474720"/>
            <a:ext cx="2926080" cy="457200"/>
          </a:xfrm>
          <a:prstGeom prst="rect">
            <a:avLst/>
          </a:prstGeom>
          <a:noFill/>
        </p:spPr>
        <p:txBody>
          <a:bodyPr wrap="square">
            <a:spAutoFit/>
          </a:bodyPr>
          <a:lstStyle/>
          <a:p>
            <a:pPr algn="ctr">
              <a:spcAft>
                <a:spcPts val="600"/>
              </a:spcAft>
              <a:defRPr sz="1800" b="1">
                <a:solidFill>
                  <a:srgbClr val="0F766E"/>
                </a:solidFill>
                <a:latin typeface="Calibri"/>
              </a:defRPr>
            </a:pPr>
            <a:r>
              <a:t>Quality Drops</a:t>
            </a:r>
          </a:p>
        </p:txBody>
      </p:sp>
      <p:sp>
        <p:nvSpPr>
          <p:cNvPr id="10" name="TextBox 9"/>
          <p:cNvSpPr txBox="1"/>
          <p:nvPr/>
        </p:nvSpPr>
        <p:spPr>
          <a:xfrm>
            <a:off x="4572000" y="4023360"/>
            <a:ext cx="2926080" cy="914400"/>
          </a:xfrm>
          <a:prstGeom prst="rect">
            <a:avLst/>
          </a:prstGeom>
          <a:noFill/>
        </p:spPr>
        <p:txBody>
          <a:bodyPr wrap="square">
            <a:spAutoFit/>
          </a:bodyPr>
          <a:lstStyle/>
          <a:p>
            <a:pPr algn="ctr">
              <a:spcAft>
                <a:spcPts val="600"/>
              </a:spcAft>
              <a:defRPr sz="1400" b="0">
                <a:solidFill>
                  <a:srgbClr val="334155"/>
                </a:solidFill>
                <a:latin typeface="Calibri"/>
              </a:defRPr>
            </a:pPr>
            <a:r>
              <a:t>Inconsistent adherence to evolving regulatory requirements.</a:t>
            </a:r>
          </a:p>
        </p:txBody>
      </p:sp>
      <p:sp>
        <p:nvSpPr>
          <p:cNvPr id="11" name="Rounded Rectangle 10"/>
          <p:cNvSpPr/>
          <p:nvPr/>
        </p:nvSpPr>
        <p:spPr>
          <a:xfrm>
            <a:off x="8046720" y="3200400"/>
            <a:ext cx="3291840" cy="2011680"/>
          </a:xfrm>
          <a:prstGeom prst="roundRect">
            <a:avLst/>
          </a:prstGeom>
          <a:solidFill>
            <a:srgbClr val="F1F5F9"/>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0" y="3474720"/>
            <a:ext cx="2926080" cy="457200"/>
          </a:xfrm>
          <a:prstGeom prst="rect">
            <a:avLst/>
          </a:prstGeom>
          <a:noFill/>
        </p:spPr>
        <p:txBody>
          <a:bodyPr wrap="square">
            <a:spAutoFit/>
          </a:bodyPr>
          <a:lstStyle/>
          <a:p>
            <a:pPr algn="ctr">
              <a:spcAft>
                <a:spcPts val="600"/>
              </a:spcAft>
              <a:defRPr sz="1800" b="1">
                <a:solidFill>
                  <a:srgbClr val="B91C1C"/>
                </a:solidFill>
                <a:latin typeface="Calibri"/>
              </a:defRPr>
            </a:pPr>
            <a:r>
              <a:t>Downtime</a:t>
            </a:r>
          </a:p>
        </p:txBody>
      </p:sp>
      <p:sp>
        <p:nvSpPr>
          <p:cNvPr id="13" name="TextBox 12"/>
          <p:cNvSpPr txBox="1"/>
          <p:nvPr/>
        </p:nvSpPr>
        <p:spPr>
          <a:xfrm>
            <a:off x="8229600" y="4023360"/>
            <a:ext cx="2926080" cy="914400"/>
          </a:xfrm>
          <a:prstGeom prst="rect">
            <a:avLst/>
          </a:prstGeom>
          <a:noFill/>
        </p:spPr>
        <p:txBody>
          <a:bodyPr wrap="square">
            <a:spAutoFit/>
          </a:bodyPr>
          <a:lstStyle/>
          <a:p>
            <a:pPr algn="ctr">
              <a:spcAft>
                <a:spcPts val="600"/>
              </a:spcAft>
              <a:defRPr sz="1400" b="0">
                <a:solidFill>
                  <a:srgbClr val="334155"/>
                </a:solidFill>
                <a:latin typeface="Calibri"/>
              </a:defRPr>
            </a:pPr>
            <a:r>
              <a:t>18–22% of unplanned downtime events in heavy industry are directly attributed to disconnected data.</a:t>
            </a:r>
          </a:p>
        </p:txBody>
      </p:sp>
      <p:sp>
        <p:nvSpPr>
          <p:cNvPr id="14" name="TextBox 13"/>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9 /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The Core Challenge</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828800"/>
            <a:ext cx="10515600" cy="27432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286000"/>
            <a:ext cx="9875520" cy="1828800"/>
          </a:xfrm>
          <a:prstGeom prst="rect">
            <a:avLst/>
          </a:prstGeom>
          <a:noFill/>
        </p:spPr>
        <p:txBody>
          <a:bodyPr wrap="square">
            <a:spAutoFit/>
          </a:bodyPr>
          <a:lstStyle/>
          <a:p>
            <a:pPr algn="l">
              <a:spcAft>
                <a:spcPts val="600"/>
              </a:spcAft>
              <a:defRPr sz="2200" b="1">
                <a:solidFill>
                  <a:srgbClr val="1E40AF"/>
                </a:solidFill>
                <a:latin typeface="Calibri"/>
              </a:defRPr>
            </a:pPr>
            <a:r>
              <a:t>Challenge Statement:</a:t>
            </a:r>
          </a:p>
          <a:p>
            <a:pPr algn="l">
              <a:spcBef>
                <a:spcPts val="1200"/>
              </a:spcBef>
              <a:spcAft>
                <a:spcPts val="600"/>
              </a:spcAft>
              <a:defRPr sz="1800" b="0">
                <a:solidFill>
                  <a:srgbClr val="0F172A"/>
                </a:solidFill>
                <a:latin typeface="Calibri"/>
              </a:defRPr>
            </a:pPr>
            <a:r>
              <a:t>Build an AI-powered Industrial Knowledge Intelligence platform that ingests heterogeneous documents — engineering drawings, maintenance records, safety procedures, operating instructions — across structured and unstructured formats.</a:t>
            </a:r>
          </a:p>
          <a:p>
            <a:pPr algn="l">
              <a:spcBef>
                <a:spcPts val="1200"/>
              </a:spcBef>
              <a:spcAft>
                <a:spcPts val="600"/>
              </a:spcAft>
              <a:defRPr sz="1800" b="0">
                <a:solidFill>
                  <a:srgbClr val="334155"/>
                </a:solidFill>
                <a:latin typeface="Calibri"/>
              </a:defRPr>
            </a:pPr>
            <a:r>
              <a:t>Make their collective intelligence queryable, actionable, and continuously updated at the point of need.</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10 /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1E40AF"/>
                </a:solidFill>
                <a:latin typeface="Calibri"/>
              </a:defRPr>
            </a:pPr>
            <a:r>
              <a:t>03</a:t>
            </a:r>
          </a:p>
        </p:txBody>
      </p:sp>
      <p:sp>
        <p:nvSpPr>
          <p:cNvPr id="3" name="Rectangle 2"/>
          <p:cNvSpPr/>
          <p:nvPr/>
        </p:nvSpPr>
        <p:spPr>
          <a:xfrm>
            <a:off x="731520" y="301752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System Architecture</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The foundations of Cypher: Local LLMs, Vector DB, and Knowledge Graph.</a:t>
            </a:r>
          </a:p>
        </p:txBody>
      </p:sp>
      <p:sp>
        <p:nvSpPr>
          <p:cNvPr id="6" name="Rounded Rectangle 5"/>
          <p:cNvSpPr/>
          <p:nvPr/>
        </p:nvSpPr>
        <p:spPr>
          <a:xfrm>
            <a:off x="11704320" y="0"/>
            <a:ext cx="487375" cy="685800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11 /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System Architecture — Four Pillars</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0"/>
            <a:ext cx="2560320" cy="3200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560320"/>
            <a:ext cx="2194560" cy="457200"/>
          </a:xfrm>
          <a:prstGeom prst="rect">
            <a:avLst/>
          </a:prstGeom>
          <a:noFill/>
        </p:spPr>
        <p:txBody>
          <a:bodyPr wrap="square">
            <a:spAutoFit/>
          </a:bodyPr>
          <a:lstStyle/>
          <a:p>
            <a:pPr algn="ctr">
              <a:spcAft>
                <a:spcPts val="600"/>
              </a:spcAft>
              <a:defRPr sz="2000" b="1">
                <a:solidFill>
                  <a:srgbClr val="0F766E"/>
                </a:solidFill>
                <a:latin typeface="Calibri"/>
              </a:defRPr>
            </a:pPr>
            <a:r>
              <a:t>Neo4j</a:t>
            </a:r>
          </a:p>
        </p:txBody>
      </p:sp>
      <p:sp>
        <p:nvSpPr>
          <p:cNvPr id="6" name="TextBox 5"/>
          <p:cNvSpPr txBox="1"/>
          <p:nvPr/>
        </p:nvSpPr>
        <p:spPr>
          <a:xfrm>
            <a:off x="914400" y="3017520"/>
            <a:ext cx="2194560" cy="274320"/>
          </a:xfrm>
          <a:prstGeom prst="rect">
            <a:avLst/>
          </a:prstGeom>
          <a:noFill/>
        </p:spPr>
        <p:txBody>
          <a:bodyPr wrap="square">
            <a:spAutoFit/>
          </a:bodyPr>
          <a:lstStyle/>
          <a:p>
            <a:pPr algn="ctr">
              <a:spcAft>
                <a:spcPts val="600"/>
              </a:spcAft>
              <a:defRPr sz="1400" b="1">
                <a:solidFill>
                  <a:srgbClr val="0F172A"/>
                </a:solidFill>
                <a:latin typeface="Calibri"/>
              </a:defRPr>
            </a:pPr>
            <a:r>
              <a:t>Graph Database</a:t>
            </a:r>
          </a:p>
        </p:txBody>
      </p:sp>
      <p:sp>
        <p:nvSpPr>
          <p:cNvPr id="7" name="TextBox 6"/>
          <p:cNvSpPr txBox="1"/>
          <p:nvPr/>
        </p:nvSpPr>
        <p:spPr>
          <a:xfrm>
            <a:off x="914400" y="3566160"/>
            <a:ext cx="2194560" cy="1371600"/>
          </a:xfrm>
          <a:prstGeom prst="rect">
            <a:avLst/>
          </a:prstGeom>
          <a:noFill/>
        </p:spPr>
        <p:txBody>
          <a:bodyPr wrap="square">
            <a:spAutoFit/>
          </a:bodyPr>
          <a:lstStyle/>
          <a:p>
            <a:pPr algn="ctr">
              <a:spcAft>
                <a:spcPts val="600"/>
              </a:spcAft>
              <a:defRPr sz="1200" b="0">
                <a:solidFill>
                  <a:srgbClr val="334155"/>
                </a:solidFill>
                <a:latin typeface="Calibri"/>
              </a:defRPr>
            </a:pPr>
            <a:r>
              <a:t>Stores entity relationships, equipment hierarchies, and topological connections.</a:t>
            </a:r>
          </a:p>
        </p:txBody>
      </p:sp>
      <p:sp>
        <p:nvSpPr>
          <p:cNvPr id="8" name="Rounded Rectangle 7"/>
          <p:cNvSpPr/>
          <p:nvPr/>
        </p:nvSpPr>
        <p:spPr>
          <a:xfrm>
            <a:off x="3474720" y="2286000"/>
            <a:ext cx="2560320" cy="32004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2560320"/>
            <a:ext cx="2194560" cy="457200"/>
          </a:xfrm>
          <a:prstGeom prst="rect">
            <a:avLst/>
          </a:prstGeom>
          <a:noFill/>
        </p:spPr>
        <p:txBody>
          <a:bodyPr wrap="square">
            <a:spAutoFit/>
          </a:bodyPr>
          <a:lstStyle/>
          <a:p>
            <a:pPr algn="ctr">
              <a:spcAft>
                <a:spcPts val="600"/>
              </a:spcAft>
              <a:defRPr sz="2000" b="1">
                <a:solidFill>
                  <a:srgbClr val="1E40AF"/>
                </a:solidFill>
                <a:latin typeface="Calibri"/>
              </a:defRPr>
            </a:pPr>
            <a:r>
              <a:t>Qdrant</a:t>
            </a:r>
          </a:p>
        </p:txBody>
      </p:sp>
      <p:sp>
        <p:nvSpPr>
          <p:cNvPr id="10" name="TextBox 9"/>
          <p:cNvSpPr txBox="1"/>
          <p:nvPr/>
        </p:nvSpPr>
        <p:spPr>
          <a:xfrm>
            <a:off x="3657600" y="3017520"/>
            <a:ext cx="2194560" cy="274320"/>
          </a:xfrm>
          <a:prstGeom prst="rect">
            <a:avLst/>
          </a:prstGeom>
          <a:noFill/>
        </p:spPr>
        <p:txBody>
          <a:bodyPr wrap="square">
            <a:spAutoFit/>
          </a:bodyPr>
          <a:lstStyle/>
          <a:p>
            <a:pPr algn="ctr">
              <a:spcAft>
                <a:spcPts val="600"/>
              </a:spcAft>
              <a:defRPr sz="1400" b="1">
                <a:solidFill>
                  <a:srgbClr val="0F172A"/>
                </a:solidFill>
                <a:latin typeface="Calibri"/>
              </a:defRPr>
            </a:pPr>
            <a:r>
              <a:t>Vector Database</a:t>
            </a:r>
          </a:p>
        </p:txBody>
      </p:sp>
      <p:sp>
        <p:nvSpPr>
          <p:cNvPr id="11" name="TextBox 10"/>
          <p:cNvSpPr txBox="1"/>
          <p:nvPr/>
        </p:nvSpPr>
        <p:spPr>
          <a:xfrm>
            <a:off x="3657600" y="3566160"/>
            <a:ext cx="2194560" cy="1371600"/>
          </a:xfrm>
          <a:prstGeom prst="rect">
            <a:avLst/>
          </a:prstGeom>
          <a:noFill/>
        </p:spPr>
        <p:txBody>
          <a:bodyPr wrap="square">
            <a:spAutoFit/>
          </a:bodyPr>
          <a:lstStyle/>
          <a:p>
            <a:pPr algn="ctr">
              <a:spcAft>
                <a:spcPts val="600"/>
              </a:spcAft>
              <a:defRPr sz="1200" b="0">
                <a:solidFill>
                  <a:srgbClr val="334155"/>
                </a:solidFill>
                <a:latin typeface="Calibri"/>
              </a:defRPr>
            </a:pPr>
            <a:r>
              <a:t>Stores high-dimensional embeddings for semantic search over unstructured text.</a:t>
            </a:r>
          </a:p>
        </p:txBody>
      </p:sp>
      <p:sp>
        <p:nvSpPr>
          <p:cNvPr id="12" name="Rounded Rectangle 11"/>
          <p:cNvSpPr/>
          <p:nvPr/>
        </p:nvSpPr>
        <p:spPr>
          <a:xfrm>
            <a:off x="6217920" y="2286000"/>
            <a:ext cx="2560320" cy="32004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560320"/>
            <a:ext cx="2194560" cy="457200"/>
          </a:xfrm>
          <a:prstGeom prst="rect">
            <a:avLst/>
          </a:prstGeom>
          <a:noFill/>
        </p:spPr>
        <p:txBody>
          <a:bodyPr wrap="square">
            <a:spAutoFit/>
          </a:bodyPr>
          <a:lstStyle/>
          <a:p>
            <a:pPr algn="ctr">
              <a:spcAft>
                <a:spcPts val="600"/>
              </a:spcAft>
              <a:defRPr sz="2000" b="1">
                <a:solidFill>
                  <a:srgbClr val="B45309"/>
                </a:solidFill>
                <a:latin typeface="Calibri"/>
              </a:defRPr>
            </a:pPr>
            <a:r>
              <a:t>FastAPI + LLM</a:t>
            </a:r>
          </a:p>
        </p:txBody>
      </p:sp>
      <p:sp>
        <p:nvSpPr>
          <p:cNvPr id="14" name="TextBox 13"/>
          <p:cNvSpPr txBox="1"/>
          <p:nvPr/>
        </p:nvSpPr>
        <p:spPr>
          <a:xfrm>
            <a:off x="6400800" y="3017520"/>
            <a:ext cx="2194560" cy="274320"/>
          </a:xfrm>
          <a:prstGeom prst="rect">
            <a:avLst/>
          </a:prstGeom>
          <a:noFill/>
        </p:spPr>
        <p:txBody>
          <a:bodyPr wrap="square">
            <a:spAutoFit/>
          </a:bodyPr>
          <a:lstStyle/>
          <a:p>
            <a:pPr algn="ctr">
              <a:spcAft>
                <a:spcPts val="600"/>
              </a:spcAft>
              <a:defRPr sz="1400" b="1">
                <a:solidFill>
                  <a:srgbClr val="0F172A"/>
                </a:solidFill>
                <a:latin typeface="Calibri"/>
              </a:defRPr>
            </a:pPr>
            <a:r>
              <a:t>The Brain Backend</a:t>
            </a:r>
          </a:p>
        </p:txBody>
      </p:sp>
      <p:sp>
        <p:nvSpPr>
          <p:cNvPr id="15" name="TextBox 14"/>
          <p:cNvSpPr txBox="1"/>
          <p:nvPr/>
        </p:nvSpPr>
        <p:spPr>
          <a:xfrm>
            <a:off x="6400800" y="3566160"/>
            <a:ext cx="2194560" cy="1371600"/>
          </a:xfrm>
          <a:prstGeom prst="rect">
            <a:avLst/>
          </a:prstGeom>
          <a:noFill/>
        </p:spPr>
        <p:txBody>
          <a:bodyPr wrap="square">
            <a:spAutoFit/>
          </a:bodyPr>
          <a:lstStyle/>
          <a:p>
            <a:pPr algn="ctr">
              <a:spcAft>
                <a:spcPts val="600"/>
              </a:spcAft>
              <a:defRPr sz="1200" b="0">
                <a:solidFill>
                  <a:srgbClr val="334155"/>
                </a:solidFill>
                <a:latin typeface="Calibri"/>
              </a:defRPr>
            </a:pPr>
            <a:r>
              <a:t>Orchestrates ingestion, querying, local Llama.cpp models, and BGE embeddings.</a:t>
            </a:r>
          </a:p>
        </p:txBody>
      </p:sp>
      <p:sp>
        <p:nvSpPr>
          <p:cNvPr id="16" name="Rounded Rectangle 15"/>
          <p:cNvSpPr/>
          <p:nvPr/>
        </p:nvSpPr>
        <p:spPr>
          <a:xfrm>
            <a:off x="8961120" y="2286000"/>
            <a:ext cx="2560320" cy="3200400"/>
          </a:xfrm>
          <a:prstGeom prst="roundRect">
            <a:avLst/>
          </a:prstGeom>
          <a:solidFill>
            <a:srgbClr val="F1F5F9"/>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2560320"/>
            <a:ext cx="2194560" cy="457200"/>
          </a:xfrm>
          <a:prstGeom prst="rect">
            <a:avLst/>
          </a:prstGeom>
          <a:noFill/>
        </p:spPr>
        <p:txBody>
          <a:bodyPr wrap="square">
            <a:spAutoFit/>
          </a:bodyPr>
          <a:lstStyle/>
          <a:p>
            <a:pPr algn="ctr">
              <a:spcAft>
                <a:spcPts val="600"/>
              </a:spcAft>
              <a:defRPr sz="2000" b="1">
                <a:solidFill>
                  <a:srgbClr val="334155"/>
                </a:solidFill>
                <a:latin typeface="Calibri"/>
              </a:defRPr>
            </a:pPr>
            <a:r>
              <a:t>React UI</a:t>
            </a:r>
          </a:p>
        </p:txBody>
      </p:sp>
      <p:sp>
        <p:nvSpPr>
          <p:cNvPr id="18" name="TextBox 17"/>
          <p:cNvSpPr txBox="1"/>
          <p:nvPr/>
        </p:nvSpPr>
        <p:spPr>
          <a:xfrm>
            <a:off x="9144000" y="3017520"/>
            <a:ext cx="2194560" cy="274320"/>
          </a:xfrm>
          <a:prstGeom prst="rect">
            <a:avLst/>
          </a:prstGeom>
          <a:noFill/>
        </p:spPr>
        <p:txBody>
          <a:bodyPr wrap="square">
            <a:spAutoFit/>
          </a:bodyPr>
          <a:lstStyle/>
          <a:p>
            <a:pPr algn="ctr">
              <a:spcAft>
                <a:spcPts val="600"/>
              </a:spcAft>
              <a:defRPr sz="1400" b="1">
                <a:solidFill>
                  <a:srgbClr val="0F172A"/>
                </a:solidFill>
                <a:latin typeface="Calibri"/>
              </a:defRPr>
            </a:pPr>
            <a:r>
              <a:t>Frontend Dashboard</a:t>
            </a:r>
          </a:p>
        </p:txBody>
      </p:sp>
      <p:sp>
        <p:nvSpPr>
          <p:cNvPr id="19" name="TextBox 18"/>
          <p:cNvSpPr txBox="1"/>
          <p:nvPr/>
        </p:nvSpPr>
        <p:spPr>
          <a:xfrm>
            <a:off x="9144000" y="3566160"/>
            <a:ext cx="2194560" cy="1371600"/>
          </a:xfrm>
          <a:prstGeom prst="rect">
            <a:avLst/>
          </a:prstGeom>
          <a:noFill/>
        </p:spPr>
        <p:txBody>
          <a:bodyPr wrap="square">
            <a:spAutoFit/>
          </a:bodyPr>
          <a:lstStyle/>
          <a:p>
            <a:pPr algn="ctr">
              <a:spcAft>
                <a:spcPts val="600"/>
              </a:spcAft>
              <a:defRPr sz="1200" b="0">
                <a:solidFill>
                  <a:srgbClr val="334155"/>
                </a:solidFill>
                <a:latin typeface="Calibri"/>
              </a:defRPr>
            </a:pPr>
            <a:r>
              <a:t>Provides user search, graph visualization, and chat interfaces.</a:t>
            </a:r>
          </a:p>
        </p:txBody>
      </p:sp>
      <p:sp>
        <p:nvSpPr>
          <p:cNvPr id="20" name="TextBox 19"/>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12 /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System Architecture Flow</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ypher_architecture_light_1784489745756.png"/>
          <p:cNvPicPr>
            <a:picLocks noChangeAspect="1"/>
          </p:cNvPicPr>
          <p:nvPr/>
        </p:nvPicPr>
        <p:blipFill>
          <a:blip r:embed="rId2"/>
          <a:stretch>
            <a:fillRect/>
          </a:stretch>
        </p:blipFill>
        <p:spPr>
          <a:xfrm>
            <a:off x="3200400" y="1371600"/>
            <a:ext cx="5486400" cy="5212080"/>
          </a:xfrm>
          <a:prstGeom prst="rect">
            <a:avLst/>
          </a:prstGeom>
        </p:spPr>
      </p:pic>
      <p:sp>
        <p:nvSpPr>
          <p:cNvPr id="5" name="TextBox 4"/>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13 /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Data Ingestion Pipeline</a:t>
            </a:r>
          </a:p>
        </p:txBody>
      </p:sp>
      <p:sp>
        <p:nvSpPr>
          <p:cNvPr id="3" name="Rectangle 2"/>
          <p:cNvSpPr/>
          <p:nvPr/>
        </p:nvSpPr>
        <p:spPr>
          <a:xfrm>
            <a:off x="731520" y="1097280"/>
            <a:ext cx="1828800" cy="25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828800"/>
            <a:ext cx="10515600" cy="914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65960"/>
            <a:ext cx="2286000" cy="640080"/>
          </a:xfrm>
          <a:prstGeom prst="rect">
            <a:avLst/>
          </a:prstGeom>
          <a:noFill/>
        </p:spPr>
        <p:txBody>
          <a:bodyPr wrap="square">
            <a:spAutoFit/>
          </a:bodyPr>
          <a:lstStyle/>
          <a:p>
            <a:pPr algn="l">
              <a:spcAft>
                <a:spcPts val="600"/>
              </a:spcAft>
              <a:defRPr sz="1600" b="1">
                <a:solidFill>
                  <a:srgbClr val="0F766E"/>
                </a:solidFill>
                <a:latin typeface="Calibri"/>
              </a:defRPr>
            </a:pPr>
            <a:r>
              <a:t>1. Read &amp; OCR</a:t>
            </a:r>
          </a:p>
        </p:txBody>
      </p:sp>
      <p:sp>
        <p:nvSpPr>
          <p:cNvPr id="6" name="TextBox 5"/>
          <p:cNvSpPr txBox="1"/>
          <p:nvPr/>
        </p:nvSpPr>
        <p:spPr>
          <a:xfrm>
            <a:off x="3474720" y="1965960"/>
            <a:ext cx="7498079" cy="640080"/>
          </a:xfrm>
          <a:prstGeom prst="rect">
            <a:avLst/>
          </a:prstGeom>
          <a:noFill/>
        </p:spPr>
        <p:txBody>
          <a:bodyPr wrap="square">
            <a:spAutoFit/>
          </a:bodyPr>
          <a:lstStyle/>
          <a:p>
            <a:pPr algn="l">
              <a:spcAft>
                <a:spcPts val="600"/>
              </a:spcAft>
              <a:defRPr sz="1400" b="0">
                <a:solidFill>
                  <a:srgbClr val="334155"/>
                </a:solidFill>
                <a:latin typeface="Calibri"/>
              </a:defRPr>
            </a:pPr>
            <a:r>
              <a:t>Raw PDFs, Images, and Text are loaded via `/documents` mount. Visual models (Qwen3VL) parse P&amp;IDs.</a:t>
            </a:r>
          </a:p>
        </p:txBody>
      </p:sp>
      <p:sp>
        <p:nvSpPr>
          <p:cNvPr id="7" name="Rounded Rectangle 6"/>
          <p:cNvSpPr/>
          <p:nvPr/>
        </p:nvSpPr>
        <p:spPr>
          <a:xfrm>
            <a:off x="731520" y="2926080"/>
            <a:ext cx="10515600" cy="914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63240"/>
            <a:ext cx="2286000" cy="640080"/>
          </a:xfrm>
          <a:prstGeom prst="rect">
            <a:avLst/>
          </a:prstGeom>
          <a:noFill/>
        </p:spPr>
        <p:txBody>
          <a:bodyPr wrap="square">
            <a:spAutoFit/>
          </a:bodyPr>
          <a:lstStyle/>
          <a:p>
            <a:pPr algn="l">
              <a:spcAft>
                <a:spcPts val="600"/>
              </a:spcAft>
              <a:defRPr sz="1600" b="1">
                <a:solidFill>
                  <a:srgbClr val="0F766E"/>
                </a:solidFill>
                <a:latin typeface="Calibri"/>
              </a:defRPr>
            </a:pPr>
            <a:r>
              <a:t>2. Entity Extraction</a:t>
            </a:r>
          </a:p>
        </p:txBody>
      </p:sp>
      <p:sp>
        <p:nvSpPr>
          <p:cNvPr id="9" name="TextBox 8"/>
          <p:cNvSpPr txBox="1"/>
          <p:nvPr/>
        </p:nvSpPr>
        <p:spPr>
          <a:xfrm>
            <a:off x="3474720" y="3063240"/>
            <a:ext cx="7498079" cy="640080"/>
          </a:xfrm>
          <a:prstGeom prst="rect">
            <a:avLst/>
          </a:prstGeom>
          <a:noFill/>
        </p:spPr>
        <p:txBody>
          <a:bodyPr wrap="square">
            <a:spAutoFit/>
          </a:bodyPr>
          <a:lstStyle/>
          <a:p>
            <a:pPr algn="l">
              <a:spcAft>
                <a:spcPts val="600"/>
              </a:spcAft>
              <a:defRPr sz="1400" b="0">
                <a:solidFill>
                  <a:srgbClr val="334155"/>
                </a:solidFill>
                <a:latin typeface="Calibri"/>
              </a:defRPr>
            </a:pPr>
            <a:r>
              <a:t>Qwen2.5-3B model extracts key tags, dates, equipment IDs, and specifications from the text chunks.</a:t>
            </a:r>
          </a:p>
        </p:txBody>
      </p:sp>
      <p:sp>
        <p:nvSpPr>
          <p:cNvPr id="10" name="Rounded Rectangle 9"/>
          <p:cNvSpPr/>
          <p:nvPr/>
        </p:nvSpPr>
        <p:spPr>
          <a:xfrm>
            <a:off x="731520" y="4023360"/>
            <a:ext cx="10515600" cy="914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160520"/>
            <a:ext cx="2286000" cy="640080"/>
          </a:xfrm>
          <a:prstGeom prst="rect">
            <a:avLst/>
          </a:prstGeom>
          <a:noFill/>
        </p:spPr>
        <p:txBody>
          <a:bodyPr wrap="square">
            <a:spAutoFit/>
          </a:bodyPr>
          <a:lstStyle/>
          <a:p>
            <a:pPr algn="l">
              <a:spcAft>
                <a:spcPts val="600"/>
              </a:spcAft>
              <a:defRPr sz="1600" b="1">
                <a:solidFill>
                  <a:srgbClr val="0F766E"/>
                </a:solidFill>
                <a:latin typeface="Calibri"/>
              </a:defRPr>
            </a:pPr>
            <a:r>
              <a:t>3. Vectorization</a:t>
            </a:r>
          </a:p>
        </p:txBody>
      </p:sp>
      <p:sp>
        <p:nvSpPr>
          <p:cNvPr id="12" name="TextBox 11"/>
          <p:cNvSpPr txBox="1"/>
          <p:nvPr/>
        </p:nvSpPr>
        <p:spPr>
          <a:xfrm>
            <a:off x="3474720" y="4160520"/>
            <a:ext cx="7498079" cy="640080"/>
          </a:xfrm>
          <a:prstGeom prst="rect">
            <a:avLst/>
          </a:prstGeom>
          <a:noFill/>
        </p:spPr>
        <p:txBody>
          <a:bodyPr wrap="square">
            <a:spAutoFit/>
          </a:bodyPr>
          <a:lstStyle/>
          <a:p>
            <a:pPr algn="l">
              <a:spcAft>
                <a:spcPts val="600"/>
              </a:spcAft>
              <a:defRPr sz="1400" b="0">
                <a:solidFill>
                  <a:srgbClr val="334155"/>
                </a:solidFill>
                <a:latin typeface="Calibri"/>
              </a:defRPr>
            </a:pPr>
            <a:r>
              <a:t>BGE embedding model converts text into semantic vectors for Qdrant storage.</a:t>
            </a:r>
          </a:p>
        </p:txBody>
      </p:sp>
      <p:sp>
        <p:nvSpPr>
          <p:cNvPr id="13" name="Rounded Rectangle 12"/>
          <p:cNvSpPr/>
          <p:nvPr/>
        </p:nvSpPr>
        <p:spPr>
          <a:xfrm>
            <a:off x="731520" y="5120640"/>
            <a:ext cx="10515600" cy="914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257800"/>
            <a:ext cx="2286000" cy="640080"/>
          </a:xfrm>
          <a:prstGeom prst="rect">
            <a:avLst/>
          </a:prstGeom>
          <a:noFill/>
        </p:spPr>
        <p:txBody>
          <a:bodyPr wrap="square">
            <a:spAutoFit/>
          </a:bodyPr>
          <a:lstStyle/>
          <a:p>
            <a:pPr algn="l">
              <a:spcAft>
                <a:spcPts val="600"/>
              </a:spcAft>
              <a:defRPr sz="1600" b="1">
                <a:solidFill>
                  <a:srgbClr val="0F766E"/>
                </a:solidFill>
                <a:latin typeface="Calibri"/>
              </a:defRPr>
            </a:pPr>
            <a:r>
              <a:t>4. Graph Linkage</a:t>
            </a:r>
          </a:p>
        </p:txBody>
      </p:sp>
      <p:sp>
        <p:nvSpPr>
          <p:cNvPr id="15" name="TextBox 14"/>
          <p:cNvSpPr txBox="1"/>
          <p:nvPr/>
        </p:nvSpPr>
        <p:spPr>
          <a:xfrm>
            <a:off x="3474720" y="5257800"/>
            <a:ext cx="7498079" cy="640080"/>
          </a:xfrm>
          <a:prstGeom prst="rect">
            <a:avLst/>
          </a:prstGeom>
          <a:noFill/>
        </p:spPr>
        <p:txBody>
          <a:bodyPr wrap="square">
            <a:spAutoFit/>
          </a:bodyPr>
          <a:lstStyle/>
          <a:p>
            <a:pPr algn="l">
              <a:spcAft>
                <a:spcPts val="600"/>
              </a:spcAft>
              <a:defRPr sz="1400" b="0">
                <a:solidFill>
                  <a:srgbClr val="334155"/>
                </a:solidFill>
                <a:latin typeface="Calibri"/>
              </a:defRPr>
            </a:pPr>
            <a:r>
              <a:t>Extracted entities are mapped as nodes in Neo4j, establishing relationships between documents and assets.</a:t>
            </a:r>
          </a:p>
        </p:txBody>
      </p:sp>
      <p:sp>
        <p:nvSpPr>
          <p:cNvPr id="16" name="TextBox 1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14 /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The Hybrid Retrieval Engine</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914400"/>
          </a:xfrm>
          <a:prstGeom prst="rect">
            <a:avLst/>
          </a:prstGeom>
          <a:noFill/>
        </p:spPr>
        <p:txBody>
          <a:bodyPr wrap="square">
            <a:spAutoFit/>
          </a:bodyPr>
          <a:lstStyle/>
          <a:p>
            <a:pPr algn="l">
              <a:spcAft>
                <a:spcPts val="600"/>
              </a:spcAft>
              <a:defRPr sz="1800" b="1">
                <a:solidFill>
                  <a:srgbClr val="0F172A"/>
                </a:solidFill>
                <a:latin typeface="Calibri"/>
              </a:defRPr>
            </a:pPr>
            <a:r>
              <a:t>Semantic Search alone is insufficient for engineering data. We fuse Vector and Graph retrieval.</a:t>
            </a:r>
          </a:p>
        </p:txBody>
      </p:sp>
      <p:sp>
        <p:nvSpPr>
          <p:cNvPr id="5" name="Rounded Rectangle 4"/>
          <p:cNvSpPr/>
          <p:nvPr/>
        </p:nvSpPr>
        <p:spPr>
          <a:xfrm>
            <a:off x="731520" y="2926080"/>
            <a:ext cx="5029200" cy="22860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200400"/>
            <a:ext cx="4389120" cy="457200"/>
          </a:xfrm>
          <a:prstGeom prst="rect">
            <a:avLst/>
          </a:prstGeom>
          <a:noFill/>
        </p:spPr>
        <p:txBody>
          <a:bodyPr wrap="square">
            <a:spAutoFit/>
          </a:bodyPr>
          <a:lstStyle/>
          <a:p>
            <a:pPr algn="l">
              <a:spcAft>
                <a:spcPts val="600"/>
              </a:spcAft>
              <a:defRPr sz="1800" b="1">
                <a:solidFill>
                  <a:srgbClr val="1E40AF"/>
                </a:solidFill>
                <a:latin typeface="Calibri"/>
              </a:defRPr>
            </a:pPr>
            <a:r>
              <a:t>Vector Search (Qdrant)</a:t>
            </a:r>
          </a:p>
        </p:txBody>
      </p:sp>
      <p:sp>
        <p:nvSpPr>
          <p:cNvPr id="7" name="TextBox 6"/>
          <p:cNvSpPr txBox="1"/>
          <p:nvPr/>
        </p:nvSpPr>
        <p:spPr>
          <a:xfrm>
            <a:off x="1097280" y="3657600"/>
            <a:ext cx="4389120" cy="1371600"/>
          </a:xfrm>
          <a:prstGeom prst="rect">
            <a:avLst/>
          </a:prstGeom>
          <a:noFill/>
        </p:spPr>
        <p:txBody>
          <a:bodyPr wrap="square">
            <a:spAutoFit/>
          </a:bodyPr>
          <a:lstStyle/>
          <a:p>
            <a:pPr algn="l">
              <a:spcAft>
                <a:spcPts val="600"/>
              </a:spcAft>
              <a:defRPr sz="1400" b="0">
                <a:solidFill>
                  <a:srgbClr val="334155"/>
                </a:solidFill>
                <a:latin typeface="Calibri"/>
              </a:defRPr>
            </a:pPr>
            <a:r>
              <a:t>Finds conceptually similar text. If a user asks 'How to fix hydraulic leak?', it retrieves manual sections detailing hydraulic repair procedures.</a:t>
            </a:r>
          </a:p>
        </p:txBody>
      </p:sp>
      <p:sp>
        <p:nvSpPr>
          <p:cNvPr id="8" name="Rounded Rectangle 7"/>
          <p:cNvSpPr/>
          <p:nvPr/>
        </p:nvSpPr>
        <p:spPr>
          <a:xfrm>
            <a:off x="6217920" y="2926080"/>
            <a:ext cx="5029200" cy="22860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3200400"/>
            <a:ext cx="4389120" cy="457200"/>
          </a:xfrm>
          <a:prstGeom prst="rect">
            <a:avLst/>
          </a:prstGeom>
          <a:noFill/>
        </p:spPr>
        <p:txBody>
          <a:bodyPr wrap="square">
            <a:spAutoFit/>
          </a:bodyPr>
          <a:lstStyle/>
          <a:p>
            <a:pPr algn="l">
              <a:spcAft>
                <a:spcPts val="600"/>
              </a:spcAft>
              <a:defRPr sz="1800" b="1">
                <a:solidFill>
                  <a:srgbClr val="0F766E"/>
                </a:solidFill>
                <a:latin typeface="Calibri"/>
              </a:defRPr>
            </a:pPr>
            <a:r>
              <a:t>Graph Search (Neo4j)</a:t>
            </a:r>
          </a:p>
        </p:txBody>
      </p:sp>
      <p:sp>
        <p:nvSpPr>
          <p:cNvPr id="10" name="TextBox 9"/>
          <p:cNvSpPr txBox="1"/>
          <p:nvPr/>
        </p:nvSpPr>
        <p:spPr>
          <a:xfrm>
            <a:off x="6583680" y="3657600"/>
            <a:ext cx="4389120" cy="1371600"/>
          </a:xfrm>
          <a:prstGeom prst="rect">
            <a:avLst/>
          </a:prstGeom>
          <a:noFill/>
        </p:spPr>
        <p:txBody>
          <a:bodyPr wrap="square">
            <a:spAutoFit/>
          </a:bodyPr>
          <a:lstStyle/>
          <a:p>
            <a:pPr algn="l">
              <a:spcAft>
                <a:spcPts val="600"/>
              </a:spcAft>
              <a:defRPr sz="1400" b="0">
                <a:solidFill>
                  <a:srgbClr val="334155"/>
                </a:solidFill>
                <a:latin typeface="Calibri"/>
              </a:defRPr>
            </a:pPr>
            <a:r>
              <a:t>Understands structural links. It knows that 'Pump A' is connected to 'Valve B', and retrieves the last 3 maintenance records explicitly linked to 'Pump A'.</a:t>
            </a:r>
          </a:p>
        </p:txBody>
      </p:sp>
      <p:sp>
        <p:nvSpPr>
          <p:cNvPr id="11" name="TextBox 10"/>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15 /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Local Edge-AI &amp; Privacy</a:t>
            </a:r>
          </a:p>
        </p:txBody>
      </p:sp>
      <p:sp>
        <p:nvSpPr>
          <p:cNvPr id="3" name="Rectangle 2"/>
          <p:cNvSpPr/>
          <p:nvPr/>
        </p:nvSpPr>
        <p:spPr>
          <a:xfrm>
            <a:off x="731520" y="109728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914400"/>
          </a:xfrm>
          <a:prstGeom prst="rect">
            <a:avLst/>
          </a:prstGeom>
          <a:noFill/>
        </p:spPr>
        <p:txBody>
          <a:bodyPr wrap="square">
            <a:spAutoFit/>
          </a:bodyPr>
          <a:lstStyle/>
          <a:p>
            <a:pPr algn="l">
              <a:spcAft>
                <a:spcPts val="600"/>
              </a:spcAft>
              <a:defRPr sz="2000" b="1">
                <a:solidFill>
                  <a:srgbClr val="B91C1C"/>
                </a:solidFill>
                <a:latin typeface="Calibri"/>
              </a:defRPr>
            </a:pPr>
            <a:r>
              <a:t>Industrial data is highly sensitive. Cypher runs 100% locally.</a:t>
            </a:r>
          </a:p>
        </p:txBody>
      </p:sp>
      <p:sp>
        <p:nvSpPr>
          <p:cNvPr id="5" name="TextBox 4"/>
          <p:cNvSpPr txBox="1"/>
          <p:nvPr/>
        </p:nvSpPr>
        <p:spPr>
          <a:xfrm>
            <a:off x="914400" y="2926080"/>
            <a:ext cx="10058400" cy="731520"/>
          </a:xfrm>
          <a:prstGeom prst="rect">
            <a:avLst/>
          </a:prstGeom>
          <a:noFill/>
        </p:spPr>
        <p:txBody>
          <a:bodyPr wrap="square">
            <a:spAutoFit/>
          </a:bodyPr>
          <a:lstStyle/>
          <a:p>
            <a:pPr algn="l">
              <a:spcAft>
                <a:spcPts val="600"/>
              </a:spcAft>
              <a:defRPr sz="1800" b="1">
                <a:solidFill>
                  <a:srgbClr val="0F172A"/>
                </a:solidFill>
                <a:latin typeface="Calibri"/>
              </a:defRPr>
            </a:pPr>
            <a:r>
              <a:t>• Zero Cloud Dependency:</a:t>
            </a:r>
          </a:p>
          <a:p>
            <a:pPr algn="l">
              <a:spcBef>
                <a:spcPts val="0"/>
              </a:spcBef>
              <a:spcAft>
                <a:spcPts val="600"/>
              </a:spcAft>
              <a:defRPr sz="1600" b="0">
                <a:solidFill>
                  <a:srgbClr val="334155"/>
                </a:solidFill>
                <a:latin typeface="Calibri"/>
              </a:defRPr>
            </a:pPr>
            <a:r>
              <a:t>No proprietary documents, P&amp;IDs, or intellectual property ever leave the facility's internal network.</a:t>
            </a:r>
          </a:p>
        </p:txBody>
      </p:sp>
      <p:sp>
        <p:nvSpPr>
          <p:cNvPr id="6" name="TextBox 5"/>
          <p:cNvSpPr txBox="1"/>
          <p:nvPr/>
        </p:nvSpPr>
        <p:spPr>
          <a:xfrm>
            <a:off x="914400" y="3931920"/>
            <a:ext cx="10058400" cy="731520"/>
          </a:xfrm>
          <a:prstGeom prst="rect">
            <a:avLst/>
          </a:prstGeom>
          <a:noFill/>
        </p:spPr>
        <p:txBody>
          <a:bodyPr wrap="square">
            <a:spAutoFit/>
          </a:bodyPr>
          <a:lstStyle/>
          <a:p>
            <a:pPr algn="l">
              <a:spcAft>
                <a:spcPts val="600"/>
              </a:spcAft>
              <a:defRPr sz="1800" b="1">
                <a:solidFill>
                  <a:srgbClr val="0F172A"/>
                </a:solidFill>
                <a:latin typeface="Calibri"/>
              </a:defRPr>
            </a:pPr>
            <a:r>
              <a:t>• Llama.cpp Optimization:</a:t>
            </a:r>
          </a:p>
          <a:p>
            <a:pPr algn="l">
              <a:spcBef>
                <a:spcPts val="0"/>
              </a:spcBef>
              <a:spcAft>
                <a:spcPts val="600"/>
              </a:spcAft>
              <a:defRPr sz="1600" b="0">
                <a:solidFill>
                  <a:srgbClr val="334155"/>
                </a:solidFill>
                <a:latin typeface="Calibri"/>
              </a:defRPr>
            </a:pPr>
            <a:r>
              <a:t>Runs massive quantized GGUF models efficiently on local hardware. The Qwen 8B model fits gracefully into VRAM.</a:t>
            </a:r>
          </a:p>
        </p:txBody>
      </p:sp>
      <p:sp>
        <p:nvSpPr>
          <p:cNvPr id="7" name="TextBox 6"/>
          <p:cNvSpPr txBox="1"/>
          <p:nvPr/>
        </p:nvSpPr>
        <p:spPr>
          <a:xfrm>
            <a:off x="914400" y="4937760"/>
            <a:ext cx="10058400" cy="731520"/>
          </a:xfrm>
          <a:prstGeom prst="rect">
            <a:avLst/>
          </a:prstGeom>
          <a:noFill/>
        </p:spPr>
        <p:txBody>
          <a:bodyPr wrap="square">
            <a:spAutoFit/>
          </a:bodyPr>
          <a:lstStyle/>
          <a:p>
            <a:pPr algn="l">
              <a:spcAft>
                <a:spcPts val="600"/>
              </a:spcAft>
              <a:defRPr sz="1800" b="1">
                <a:solidFill>
                  <a:srgbClr val="0F172A"/>
                </a:solidFill>
                <a:latin typeface="Calibri"/>
              </a:defRPr>
            </a:pPr>
            <a:r>
              <a:t>• Hardware Acceleration:</a:t>
            </a:r>
          </a:p>
          <a:p>
            <a:pPr algn="l">
              <a:spcBef>
                <a:spcPts val="0"/>
              </a:spcBef>
              <a:spcAft>
                <a:spcPts val="600"/>
              </a:spcAft>
              <a:defRPr sz="1600" b="0">
                <a:solidFill>
                  <a:srgbClr val="334155"/>
                </a:solidFill>
                <a:latin typeface="Calibri"/>
              </a:defRPr>
            </a:pPr>
            <a:r>
              <a:t>Utilizes the NVIDIA Container Toolkit to pass host GPUs into the Dockerized backend for instant LLM inference.</a:t>
            </a:r>
          </a:p>
        </p:txBody>
      </p:sp>
      <p:sp>
        <p:nvSpPr>
          <p:cNvPr id="8" name="TextBox 7"/>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16 /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B45309"/>
                </a:solidFill>
                <a:latin typeface="Calibri"/>
              </a:defRPr>
            </a:pPr>
            <a:r>
              <a:t>04</a:t>
            </a:r>
          </a:p>
        </p:txBody>
      </p:sp>
      <p:sp>
        <p:nvSpPr>
          <p:cNvPr id="3" name="Rectangle 2"/>
          <p:cNvSpPr/>
          <p:nvPr/>
        </p:nvSpPr>
        <p:spPr>
          <a:xfrm>
            <a:off x="731520" y="3017520"/>
            <a:ext cx="1828800" cy="25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Technical Implementation</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Deep dive into RAG, AI Pipelines, and asynchronous API design.</a:t>
            </a:r>
          </a:p>
        </p:txBody>
      </p:sp>
      <p:sp>
        <p:nvSpPr>
          <p:cNvPr id="6" name="Rounded Rectangle 5"/>
          <p:cNvSpPr/>
          <p:nvPr/>
        </p:nvSpPr>
        <p:spPr>
          <a:xfrm>
            <a:off x="11704320" y="0"/>
            <a:ext cx="487375" cy="685800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17 /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Advanced Document Processing</a:t>
            </a:r>
          </a:p>
        </p:txBody>
      </p:sp>
      <p:sp>
        <p:nvSpPr>
          <p:cNvPr id="3" name="Rectangle 2"/>
          <p:cNvSpPr/>
          <p:nvPr/>
        </p:nvSpPr>
        <p:spPr>
          <a:xfrm>
            <a:off x="731520" y="1097280"/>
            <a:ext cx="1828800" cy="25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371600"/>
          </a:xfrm>
          <a:prstGeom prst="rect">
            <a:avLst/>
          </a:prstGeom>
          <a:noFill/>
        </p:spPr>
        <p:txBody>
          <a:bodyPr wrap="square">
            <a:spAutoFit/>
          </a:bodyPr>
          <a:lstStyle/>
          <a:p>
            <a:pPr algn="l">
              <a:spcAft>
                <a:spcPts val="600"/>
              </a:spcAft>
              <a:defRPr sz="1800" b="1">
                <a:solidFill>
                  <a:srgbClr val="0F172A"/>
                </a:solidFill>
                <a:latin typeface="Calibri"/>
              </a:defRPr>
            </a:pPr>
            <a:r>
              <a:t>We use specialized models for varying data modalities:</a:t>
            </a:r>
          </a:p>
        </p:txBody>
      </p:sp>
      <p:sp>
        <p:nvSpPr>
          <p:cNvPr id="5" name="Rounded Rectangle 4"/>
          <p:cNvSpPr/>
          <p:nvPr/>
        </p:nvSpPr>
        <p:spPr>
          <a:xfrm>
            <a:off x="731520" y="2743200"/>
            <a:ext cx="10515600" cy="27432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926080"/>
            <a:ext cx="9875520" cy="457200"/>
          </a:xfrm>
          <a:prstGeom prst="rect">
            <a:avLst/>
          </a:prstGeom>
          <a:noFill/>
        </p:spPr>
        <p:txBody>
          <a:bodyPr wrap="square">
            <a:spAutoFit/>
          </a:bodyPr>
          <a:lstStyle/>
          <a:p>
            <a:pPr algn="l">
              <a:spcAft>
                <a:spcPts val="600"/>
              </a:spcAft>
              <a:defRPr sz="1800" b="1">
                <a:solidFill>
                  <a:srgbClr val="B45309"/>
                </a:solidFill>
                <a:latin typeface="Calibri"/>
              </a:defRPr>
            </a:pPr>
            <a:r>
              <a:t>Vision-Language Processing (Qwen3VL-8B-Instruct)</a:t>
            </a:r>
          </a:p>
        </p:txBody>
      </p:sp>
      <p:sp>
        <p:nvSpPr>
          <p:cNvPr id="7" name="TextBox 6"/>
          <p:cNvSpPr txBox="1"/>
          <p:nvPr/>
        </p:nvSpPr>
        <p:spPr>
          <a:xfrm>
            <a:off x="1097280" y="3474720"/>
            <a:ext cx="9875520" cy="1828800"/>
          </a:xfrm>
          <a:prstGeom prst="rect">
            <a:avLst/>
          </a:prstGeom>
          <a:noFill/>
        </p:spPr>
        <p:txBody>
          <a:bodyPr wrap="square">
            <a:spAutoFit/>
          </a:bodyPr>
          <a:lstStyle/>
          <a:p>
            <a:pPr algn="l">
              <a:spcAft>
                <a:spcPts val="600"/>
              </a:spcAft>
              <a:defRPr sz="1400" b="0">
                <a:solidFill>
                  <a:srgbClr val="334155"/>
                </a:solidFill>
                <a:latin typeface="Calibri"/>
              </a:defRPr>
            </a:pPr>
            <a:r>
              <a:t>• Translates complex engineering drawings (P&amp;IDs) into textual logic.</a:t>
            </a:r>
          </a:p>
          <a:p>
            <a:pPr algn="l">
              <a:spcBef>
                <a:spcPts val="0"/>
              </a:spcBef>
              <a:spcAft>
                <a:spcPts val="600"/>
              </a:spcAft>
              <a:defRPr sz="1400" b="0">
                <a:solidFill>
                  <a:srgbClr val="334155"/>
                </a:solidFill>
                <a:latin typeface="Calibri"/>
              </a:defRPr>
            </a:pPr>
            <a:r>
              <a:t>• Reads tabular data and maintenance spreadsheets.</a:t>
            </a:r>
          </a:p>
          <a:p>
            <a:pPr algn="l">
              <a:spcBef>
                <a:spcPts val="0"/>
              </a:spcBef>
              <a:spcAft>
                <a:spcPts val="600"/>
              </a:spcAft>
              <a:defRPr sz="1400" b="0">
                <a:solidFill>
                  <a:srgbClr val="334155"/>
                </a:solidFill>
                <a:latin typeface="Calibri"/>
              </a:defRPr>
            </a:pPr>
            <a:r>
              <a:t>• Bridges the gap between scanned, unstructured imagery and the queryable vector database.</a:t>
            </a:r>
          </a:p>
          <a:p>
            <a:pPr algn="l">
              <a:spcBef>
                <a:spcPts val="0"/>
              </a:spcBef>
              <a:spcAft>
                <a:spcPts val="600"/>
              </a:spcAft>
              <a:defRPr sz="1400" b="0">
                <a:solidFill>
                  <a:srgbClr val="334155"/>
                </a:solidFill>
                <a:latin typeface="Calibri"/>
              </a:defRPr>
            </a:pPr>
            <a:r>
              <a:t>• Employs a custom Vision Projector (`mmproj-Qwen3VL`) for highly accurate visual tokenization.</a:t>
            </a:r>
          </a:p>
        </p:txBody>
      </p:sp>
      <p:sp>
        <p:nvSpPr>
          <p:cNvPr id="8" name="TextBox 7"/>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18 /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Expert Knowledge Copilot (RAG)</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457200"/>
          </a:xfrm>
          <a:prstGeom prst="rect">
            <a:avLst/>
          </a:prstGeom>
          <a:noFill/>
        </p:spPr>
        <p:txBody>
          <a:bodyPr wrap="square">
            <a:spAutoFit/>
          </a:bodyPr>
          <a:lstStyle/>
          <a:p>
            <a:pPr algn="l">
              <a:spcAft>
                <a:spcPts val="600"/>
              </a:spcAft>
              <a:defRPr sz="1800" b="1">
                <a:solidFill>
                  <a:srgbClr val="0F172A"/>
                </a:solidFill>
                <a:latin typeface="Calibri"/>
              </a:defRPr>
            </a:pPr>
            <a:r>
              <a:t>The Retrieval-Augmented Generation (RAG) Flow:</a:t>
            </a:r>
          </a:p>
        </p:txBody>
      </p:sp>
      <p:sp>
        <p:nvSpPr>
          <p:cNvPr id="5" name="Rounded Rectangle 4"/>
          <p:cNvSpPr/>
          <p:nvPr/>
        </p:nvSpPr>
        <p:spPr>
          <a:xfrm>
            <a:off x="731520" y="2743200"/>
            <a:ext cx="2286000" cy="54864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34640"/>
            <a:ext cx="2103120" cy="365760"/>
          </a:xfrm>
          <a:prstGeom prst="rect">
            <a:avLst/>
          </a:prstGeom>
          <a:noFill/>
        </p:spPr>
        <p:txBody>
          <a:bodyPr wrap="square">
            <a:spAutoFit/>
          </a:bodyPr>
          <a:lstStyle/>
          <a:p>
            <a:pPr algn="ctr">
              <a:spcAft>
                <a:spcPts val="600"/>
              </a:spcAft>
              <a:defRPr sz="1400" b="1">
                <a:solidFill>
                  <a:srgbClr val="FFFFFF"/>
                </a:solidFill>
                <a:latin typeface="Calibri"/>
              </a:defRPr>
            </a:pPr>
            <a:r>
              <a:t>User Query</a:t>
            </a:r>
          </a:p>
        </p:txBody>
      </p:sp>
      <p:sp>
        <p:nvSpPr>
          <p:cNvPr id="7" name="TextBox 6"/>
          <p:cNvSpPr txBox="1"/>
          <p:nvPr/>
        </p:nvSpPr>
        <p:spPr>
          <a:xfrm>
            <a:off x="3200400" y="2743200"/>
            <a:ext cx="7772400" cy="548640"/>
          </a:xfrm>
          <a:prstGeom prst="rect">
            <a:avLst/>
          </a:prstGeom>
          <a:noFill/>
        </p:spPr>
        <p:txBody>
          <a:bodyPr wrap="square">
            <a:spAutoFit/>
          </a:bodyPr>
          <a:lstStyle/>
          <a:p>
            <a:pPr algn="l">
              <a:spcAft>
                <a:spcPts val="600"/>
              </a:spcAft>
              <a:defRPr sz="1400" b="0">
                <a:solidFill>
                  <a:srgbClr val="334155"/>
                </a:solidFill>
                <a:latin typeface="Calibri"/>
              </a:defRPr>
            </a:pPr>
            <a:r>
              <a:t>Engineer asks a natural language question via the React UI.</a:t>
            </a:r>
          </a:p>
        </p:txBody>
      </p:sp>
      <p:sp>
        <p:nvSpPr>
          <p:cNvPr id="8" name="Rounded Rectangle 7"/>
          <p:cNvSpPr/>
          <p:nvPr/>
        </p:nvSpPr>
        <p:spPr>
          <a:xfrm>
            <a:off x="731520" y="3566160"/>
            <a:ext cx="2286000" cy="5486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3657600"/>
            <a:ext cx="2103120" cy="365760"/>
          </a:xfrm>
          <a:prstGeom prst="rect">
            <a:avLst/>
          </a:prstGeom>
          <a:noFill/>
        </p:spPr>
        <p:txBody>
          <a:bodyPr wrap="square">
            <a:spAutoFit/>
          </a:bodyPr>
          <a:lstStyle/>
          <a:p>
            <a:pPr algn="ctr">
              <a:spcAft>
                <a:spcPts val="600"/>
              </a:spcAft>
              <a:defRPr sz="1400" b="1">
                <a:solidFill>
                  <a:srgbClr val="FFFFFF"/>
                </a:solidFill>
                <a:latin typeface="Calibri"/>
              </a:defRPr>
            </a:pPr>
            <a:r>
              <a:t>Search Execution</a:t>
            </a:r>
          </a:p>
        </p:txBody>
      </p:sp>
      <p:sp>
        <p:nvSpPr>
          <p:cNvPr id="10" name="TextBox 9"/>
          <p:cNvSpPr txBox="1"/>
          <p:nvPr/>
        </p:nvSpPr>
        <p:spPr>
          <a:xfrm>
            <a:off x="3200400" y="3566160"/>
            <a:ext cx="7772400" cy="548640"/>
          </a:xfrm>
          <a:prstGeom prst="rect">
            <a:avLst/>
          </a:prstGeom>
          <a:noFill/>
        </p:spPr>
        <p:txBody>
          <a:bodyPr wrap="square">
            <a:spAutoFit/>
          </a:bodyPr>
          <a:lstStyle/>
          <a:p>
            <a:pPr algn="l">
              <a:spcAft>
                <a:spcPts val="600"/>
              </a:spcAft>
              <a:defRPr sz="1400" b="0">
                <a:solidFill>
                  <a:srgbClr val="334155"/>
                </a:solidFill>
                <a:latin typeface="Calibri"/>
              </a:defRPr>
            </a:pPr>
            <a:r>
              <a:t>Backend runs parallel queries against Qdrant (vectors) and Neo4j (graph).</a:t>
            </a:r>
          </a:p>
        </p:txBody>
      </p:sp>
      <p:sp>
        <p:nvSpPr>
          <p:cNvPr id="11" name="Rounded Rectangle 10"/>
          <p:cNvSpPr/>
          <p:nvPr/>
        </p:nvSpPr>
        <p:spPr>
          <a:xfrm>
            <a:off x="731520" y="4389120"/>
            <a:ext cx="2286000" cy="54864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480560"/>
            <a:ext cx="2103120" cy="365760"/>
          </a:xfrm>
          <a:prstGeom prst="rect">
            <a:avLst/>
          </a:prstGeom>
          <a:noFill/>
        </p:spPr>
        <p:txBody>
          <a:bodyPr wrap="square">
            <a:spAutoFit/>
          </a:bodyPr>
          <a:lstStyle/>
          <a:p>
            <a:pPr algn="ctr">
              <a:spcAft>
                <a:spcPts val="600"/>
              </a:spcAft>
              <a:defRPr sz="1400" b="1">
                <a:solidFill>
                  <a:srgbClr val="FFFFFF"/>
                </a:solidFill>
                <a:latin typeface="Calibri"/>
              </a:defRPr>
            </a:pPr>
            <a:r>
              <a:t>Reranking</a:t>
            </a:r>
          </a:p>
        </p:txBody>
      </p:sp>
      <p:sp>
        <p:nvSpPr>
          <p:cNvPr id="13" name="TextBox 12"/>
          <p:cNvSpPr txBox="1"/>
          <p:nvPr/>
        </p:nvSpPr>
        <p:spPr>
          <a:xfrm>
            <a:off x="3200400" y="4389120"/>
            <a:ext cx="7772400" cy="548640"/>
          </a:xfrm>
          <a:prstGeom prst="rect">
            <a:avLst/>
          </a:prstGeom>
          <a:noFill/>
        </p:spPr>
        <p:txBody>
          <a:bodyPr wrap="square">
            <a:spAutoFit/>
          </a:bodyPr>
          <a:lstStyle/>
          <a:p>
            <a:pPr algn="l">
              <a:spcAft>
                <a:spcPts val="600"/>
              </a:spcAft>
              <a:defRPr sz="1400" b="0">
                <a:solidFill>
                  <a:srgbClr val="334155"/>
                </a:solidFill>
                <a:latin typeface="Calibri"/>
              </a:defRPr>
            </a:pPr>
            <a:r>
              <a:t>A cross-encoder model evaluates the relevance of all retrieved chunks and drops low-confidence data.</a:t>
            </a:r>
          </a:p>
        </p:txBody>
      </p:sp>
      <p:sp>
        <p:nvSpPr>
          <p:cNvPr id="14" name="Rounded Rectangle 13"/>
          <p:cNvSpPr/>
          <p:nvPr/>
        </p:nvSpPr>
        <p:spPr>
          <a:xfrm>
            <a:off x="731520" y="5212080"/>
            <a:ext cx="2286000" cy="54864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5303520"/>
            <a:ext cx="2103120" cy="365760"/>
          </a:xfrm>
          <a:prstGeom prst="rect">
            <a:avLst/>
          </a:prstGeom>
          <a:noFill/>
        </p:spPr>
        <p:txBody>
          <a:bodyPr wrap="square">
            <a:spAutoFit/>
          </a:bodyPr>
          <a:lstStyle/>
          <a:p>
            <a:pPr algn="ctr">
              <a:spcAft>
                <a:spcPts val="600"/>
              </a:spcAft>
              <a:defRPr sz="1400" b="1">
                <a:solidFill>
                  <a:srgbClr val="FFFFFF"/>
                </a:solidFill>
                <a:latin typeface="Calibri"/>
              </a:defRPr>
            </a:pPr>
            <a:r>
              <a:t>LLM Synthesis</a:t>
            </a:r>
          </a:p>
        </p:txBody>
      </p:sp>
      <p:sp>
        <p:nvSpPr>
          <p:cNvPr id="16" name="TextBox 15"/>
          <p:cNvSpPr txBox="1"/>
          <p:nvPr/>
        </p:nvSpPr>
        <p:spPr>
          <a:xfrm>
            <a:off x="3200400" y="5212080"/>
            <a:ext cx="7772400" cy="548640"/>
          </a:xfrm>
          <a:prstGeom prst="rect">
            <a:avLst/>
          </a:prstGeom>
          <a:noFill/>
        </p:spPr>
        <p:txBody>
          <a:bodyPr wrap="square">
            <a:spAutoFit/>
          </a:bodyPr>
          <a:lstStyle/>
          <a:p>
            <a:pPr algn="l">
              <a:spcAft>
                <a:spcPts val="600"/>
              </a:spcAft>
              <a:defRPr sz="1400" b="0">
                <a:solidFill>
                  <a:srgbClr val="334155"/>
                </a:solidFill>
                <a:latin typeface="Calibri"/>
              </a:defRPr>
            </a:pPr>
            <a:r>
              <a:t>The local 8B LLM receives the prompt + top documents and streams the answer back token-by-token.</a:t>
            </a:r>
          </a:p>
        </p:txBody>
      </p:sp>
      <p:sp>
        <p:nvSpPr>
          <p:cNvPr id="17" name="TextBox 1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19 /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Backend &amp; API Architecture</a:t>
            </a:r>
          </a:p>
        </p:txBody>
      </p:sp>
      <p:sp>
        <p:nvSpPr>
          <p:cNvPr id="3" name="Rectangle 2"/>
          <p:cNvSpPr/>
          <p:nvPr/>
        </p:nvSpPr>
        <p:spPr>
          <a:xfrm>
            <a:off x="731520" y="1097280"/>
            <a:ext cx="1828800" cy="25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457200"/>
          </a:xfrm>
          <a:prstGeom prst="rect">
            <a:avLst/>
          </a:prstGeom>
          <a:noFill/>
        </p:spPr>
        <p:txBody>
          <a:bodyPr wrap="square">
            <a:spAutoFit/>
          </a:bodyPr>
          <a:lstStyle/>
          <a:p>
            <a:pPr algn="l">
              <a:spcAft>
                <a:spcPts val="600"/>
              </a:spcAft>
              <a:defRPr sz="1600" b="0">
                <a:solidFill>
                  <a:srgbClr val="334155"/>
                </a:solidFill>
                <a:latin typeface="Calibri"/>
              </a:defRPr>
            </a:pPr>
            <a:r>
              <a:t>FastAPI provides the high-performance, asynchronous bridge connecting the AI to the UI.</a:t>
            </a:r>
          </a:p>
        </p:txBody>
      </p:sp>
      <p:sp>
        <p:nvSpPr>
          <p:cNvPr id="5" name="Rounded Rectangle 4"/>
          <p:cNvSpPr/>
          <p:nvPr/>
        </p:nvSpPr>
        <p:spPr>
          <a:xfrm>
            <a:off x="731520" y="2560320"/>
            <a:ext cx="10515600" cy="32004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743200"/>
            <a:ext cx="9875520" cy="731520"/>
          </a:xfrm>
          <a:prstGeom prst="rect">
            <a:avLst/>
          </a:prstGeom>
          <a:noFill/>
        </p:spPr>
        <p:txBody>
          <a:bodyPr wrap="square">
            <a:spAutoFit/>
          </a:bodyPr>
          <a:lstStyle/>
          <a:p>
            <a:pPr algn="l">
              <a:spcAft>
                <a:spcPts val="600"/>
              </a:spcAft>
              <a:defRPr sz="1600" b="1">
                <a:solidFill>
                  <a:srgbClr val="0F172A"/>
                </a:solidFill>
                <a:latin typeface="Calibri"/>
              </a:defRPr>
            </a:pPr>
            <a:r>
              <a:t>• Singleton Resource Management:</a:t>
            </a:r>
          </a:p>
          <a:p>
            <a:pPr algn="l">
              <a:spcBef>
                <a:spcPts val="0"/>
              </a:spcBef>
              <a:spcAft>
                <a:spcPts val="600"/>
              </a:spcAft>
              <a:defRPr sz="1400" b="0">
                <a:solidFill>
                  <a:srgbClr val="334155"/>
                </a:solidFill>
                <a:latin typeface="Calibri"/>
              </a:defRPr>
            </a:pPr>
            <a:r>
              <a:t>Database connections (Qdrant, Neo4j, SQLite) and heavy AI models are loaded once during application startup (lifespan events) to prevent out-of-memory crashes.</a:t>
            </a:r>
          </a:p>
        </p:txBody>
      </p:sp>
      <p:sp>
        <p:nvSpPr>
          <p:cNvPr id="7" name="TextBox 6"/>
          <p:cNvSpPr txBox="1"/>
          <p:nvPr/>
        </p:nvSpPr>
        <p:spPr>
          <a:xfrm>
            <a:off x="1097280" y="3657600"/>
            <a:ext cx="9875520" cy="731520"/>
          </a:xfrm>
          <a:prstGeom prst="rect">
            <a:avLst/>
          </a:prstGeom>
          <a:noFill/>
        </p:spPr>
        <p:txBody>
          <a:bodyPr wrap="square">
            <a:spAutoFit/>
          </a:bodyPr>
          <a:lstStyle/>
          <a:p>
            <a:pPr algn="l">
              <a:spcAft>
                <a:spcPts val="600"/>
              </a:spcAft>
              <a:defRPr sz="1600" b="1">
                <a:solidFill>
                  <a:srgbClr val="0F172A"/>
                </a:solidFill>
                <a:latin typeface="Calibri"/>
              </a:defRPr>
            </a:pPr>
            <a:r>
              <a:t>• Streaming Responses:</a:t>
            </a:r>
          </a:p>
          <a:p>
            <a:pPr algn="l">
              <a:spcBef>
                <a:spcPts val="0"/>
              </a:spcBef>
              <a:spcAft>
                <a:spcPts val="600"/>
              </a:spcAft>
              <a:defRPr sz="1400" b="0">
                <a:solidFill>
                  <a:srgbClr val="334155"/>
                </a:solidFill>
                <a:latin typeface="Calibri"/>
              </a:defRPr>
            </a:pPr>
            <a:r>
              <a:t>Nginx proxy buffering is disabled. The FastAPI backend streams LLM outputs token-by-token, ensuring a snappy, low-latency chat experience even on slower GPUs.</a:t>
            </a:r>
          </a:p>
        </p:txBody>
      </p:sp>
      <p:sp>
        <p:nvSpPr>
          <p:cNvPr id="8" name="TextBox 7"/>
          <p:cNvSpPr txBox="1"/>
          <p:nvPr/>
        </p:nvSpPr>
        <p:spPr>
          <a:xfrm>
            <a:off x="1097280" y="4572000"/>
            <a:ext cx="9875520" cy="731520"/>
          </a:xfrm>
          <a:prstGeom prst="rect">
            <a:avLst/>
          </a:prstGeom>
          <a:noFill/>
        </p:spPr>
        <p:txBody>
          <a:bodyPr wrap="square">
            <a:spAutoFit/>
          </a:bodyPr>
          <a:lstStyle/>
          <a:p>
            <a:pPr algn="l">
              <a:spcAft>
                <a:spcPts val="600"/>
              </a:spcAft>
              <a:defRPr sz="1600" b="1">
                <a:solidFill>
                  <a:srgbClr val="0F172A"/>
                </a:solidFill>
                <a:latin typeface="Calibri"/>
              </a:defRPr>
            </a:pPr>
            <a:r>
              <a:t>• Modular Routing:</a:t>
            </a:r>
          </a:p>
          <a:p>
            <a:pPr algn="l">
              <a:spcBef>
                <a:spcPts val="0"/>
              </a:spcBef>
              <a:spcAft>
                <a:spcPts val="600"/>
              </a:spcAft>
              <a:defRPr sz="1400" b="0">
                <a:solidFill>
                  <a:srgbClr val="334155"/>
                </a:solidFill>
                <a:latin typeface="Calibri"/>
              </a:defRPr>
            </a:pPr>
            <a:r>
              <a:t>API is divided logically into `/chat`, `/ingestion`, `/documents`, `/graph`, and `/compliance` endpoints for clean separation of concerns.</a:t>
            </a:r>
          </a:p>
        </p:txBody>
      </p:sp>
      <p:sp>
        <p:nvSpPr>
          <p:cNvPr id="9" name="TextBox 8"/>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20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Knowledge Graph Construction</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1371600"/>
          </a:xfrm>
          <a:prstGeom prst="rect">
            <a:avLst/>
          </a:prstGeom>
          <a:noFill/>
        </p:spPr>
        <p:txBody>
          <a:bodyPr wrap="square">
            <a:spAutoFit/>
          </a:bodyPr>
          <a:lstStyle/>
          <a:p>
            <a:pPr algn="l">
              <a:spcAft>
                <a:spcPts val="600"/>
              </a:spcAft>
              <a:defRPr sz="2000" b="1">
                <a:solidFill>
                  <a:srgbClr val="0F172A"/>
                </a:solidFill>
                <a:latin typeface="Calibri"/>
              </a:defRPr>
            </a:pPr>
            <a:r>
              <a:t>Transforming flat documents into an interconnected web of assets.</a:t>
            </a:r>
          </a:p>
          <a:p>
            <a:pPr algn="l">
              <a:spcBef>
                <a:spcPts val="800"/>
              </a:spcBef>
              <a:spcAft>
                <a:spcPts val="600"/>
              </a:spcAft>
              <a:defRPr sz="1600" b="0">
                <a:solidFill>
                  <a:srgbClr val="334155"/>
                </a:solidFill>
                <a:latin typeface="Calibri"/>
              </a:defRPr>
            </a:pPr>
            <a:r>
              <a:t>Cypher utilizes Qwen2.5-3B-Instruct during the ingestion phase for rapid Named Entity Recognition (NER). It identifies equipment tags, operating parameters, and regulatory norms, then dynamically creates nodes and edges in Neo4j.</a:t>
            </a:r>
          </a:p>
        </p:txBody>
      </p:sp>
      <p:sp>
        <p:nvSpPr>
          <p:cNvPr id="5" name="Rounded Rectangle 4"/>
          <p:cNvSpPr/>
          <p:nvPr/>
        </p:nvSpPr>
        <p:spPr>
          <a:xfrm>
            <a:off x="731520" y="3657600"/>
            <a:ext cx="10515600" cy="18288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931920"/>
            <a:ext cx="9875520" cy="1371600"/>
          </a:xfrm>
          <a:prstGeom prst="rect">
            <a:avLst/>
          </a:prstGeom>
          <a:noFill/>
        </p:spPr>
        <p:txBody>
          <a:bodyPr wrap="square">
            <a:spAutoFit/>
          </a:bodyPr>
          <a:lstStyle/>
          <a:p>
            <a:pPr algn="l">
              <a:spcAft>
                <a:spcPts val="600"/>
              </a:spcAft>
              <a:defRPr sz="1600" b="1">
                <a:solidFill>
                  <a:srgbClr val="1E40AF"/>
                </a:solidFill>
                <a:latin typeface="Calibri"/>
              </a:defRPr>
            </a:pPr>
            <a:r>
              <a:t>Example Schema:</a:t>
            </a:r>
          </a:p>
          <a:p>
            <a:pPr algn="l">
              <a:spcBef>
                <a:spcPts val="800"/>
              </a:spcBef>
              <a:spcAft>
                <a:spcPts val="600"/>
              </a:spcAft>
              <a:defRPr sz="1600" b="1">
                <a:solidFill>
                  <a:srgbClr val="0F172A"/>
                </a:solidFill>
                <a:latin typeface="Calibri"/>
              </a:defRPr>
            </a:pPr>
            <a:r>
              <a:t>(Document: Maintenance Report) -[MENTIONS]-&gt; (Asset: Turbine 04)</a:t>
            </a:r>
          </a:p>
          <a:p>
            <a:pPr algn="l">
              <a:spcBef>
                <a:spcPts val="400"/>
              </a:spcBef>
              <a:spcAft>
                <a:spcPts val="600"/>
              </a:spcAft>
              <a:defRPr sz="1600" b="1">
                <a:solidFill>
                  <a:srgbClr val="0F172A"/>
                </a:solidFill>
                <a:latin typeface="Calibri"/>
              </a:defRPr>
            </a:pPr>
            <a:r>
              <a:t>(Asset: Turbine 04) -[HAS_PARAMETER]-&gt; (Parameter: 3000 RPM)</a:t>
            </a:r>
          </a:p>
          <a:p>
            <a:pPr algn="l">
              <a:spcBef>
                <a:spcPts val="800"/>
              </a:spcBef>
              <a:spcAft>
                <a:spcPts val="600"/>
              </a:spcAft>
              <a:defRPr sz="1400" b="0">
                <a:solidFill>
                  <a:srgbClr val="334155"/>
                </a:solidFill>
                <a:latin typeface="Calibri"/>
              </a:defRPr>
            </a:pPr>
            <a:r>
              <a:t>This topology allows the LLM to deduce root causes across historically isolated incidents.</a:t>
            </a: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21 /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0F766E"/>
                </a:solidFill>
                <a:latin typeface="Calibri"/>
              </a:defRPr>
            </a:pPr>
            <a:r>
              <a:t>05</a:t>
            </a:r>
          </a:p>
        </p:txBody>
      </p:sp>
      <p:sp>
        <p:nvSpPr>
          <p:cNvPr id="3" name="Rectangle 2"/>
          <p:cNvSpPr/>
          <p:nvPr/>
        </p:nvSpPr>
        <p:spPr>
          <a:xfrm>
            <a:off x="731520" y="3017520"/>
            <a:ext cx="1828800" cy="25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Business Roadmap</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The rollout strategy and value proposition for Cypher.</a:t>
            </a:r>
          </a:p>
        </p:txBody>
      </p:sp>
      <p:sp>
        <p:nvSpPr>
          <p:cNvPr id="6" name="Rounded Rectangle 5"/>
          <p:cNvSpPr/>
          <p:nvPr/>
        </p:nvSpPr>
        <p:spPr>
          <a:xfrm>
            <a:off x="11704320" y="0"/>
            <a:ext cx="487375" cy="6858000"/>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22 /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Implementation Roadmap — Phases 1 &amp; 2</a:t>
            </a:r>
          </a:p>
        </p:txBody>
      </p:sp>
      <p:sp>
        <p:nvSpPr>
          <p:cNvPr id="3" name="Rectangle 2"/>
          <p:cNvSpPr/>
          <p:nvPr/>
        </p:nvSpPr>
        <p:spPr>
          <a:xfrm>
            <a:off x="731520" y="1097280"/>
            <a:ext cx="1828800" cy="25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828800"/>
            <a:ext cx="10515600" cy="18288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9875520" cy="1371600"/>
          </a:xfrm>
          <a:prstGeom prst="rect">
            <a:avLst/>
          </a:prstGeom>
          <a:noFill/>
        </p:spPr>
        <p:txBody>
          <a:bodyPr wrap="square">
            <a:spAutoFit/>
          </a:bodyPr>
          <a:lstStyle/>
          <a:p>
            <a:pPr algn="l">
              <a:spcAft>
                <a:spcPts val="600"/>
              </a:spcAft>
              <a:defRPr sz="1800" b="1">
                <a:solidFill>
                  <a:srgbClr val="0F766E"/>
                </a:solidFill>
                <a:latin typeface="Calibri"/>
              </a:defRPr>
            </a:pPr>
            <a:r>
              <a:t>Phase 1: Pilot &amp; Core Integration (Months 1-3)</a:t>
            </a:r>
          </a:p>
          <a:p>
            <a:pPr algn="l">
              <a:spcBef>
                <a:spcPts val="0"/>
              </a:spcBef>
              <a:spcAft>
                <a:spcPts val="600"/>
              </a:spcAft>
              <a:defRPr sz="1400" b="0">
                <a:solidFill>
                  <a:srgbClr val="334155"/>
                </a:solidFill>
                <a:latin typeface="Calibri"/>
              </a:defRPr>
            </a:pPr>
            <a:r>
              <a:t>• Deploy local edge-server in a single pilot plant.</a:t>
            </a:r>
            <a:br/>
            <a:r>
              <a:t>• Batch ingest 5 years of historical maintenance logs, OEM manuals, and P&amp;IDs.</a:t>
            </a:r>
            <a:br/>
            <a:r>
              <a:t>• Roll out the 'Expert Knowledge Copilot' to the primary engineering team.</a:t>
            </a:r>
          </a:p>
        </p:txBody>
      </p:sp>
      <p:sp>
        <p:nvSpPr>
          <p:cNvPr id="6" name="Rounded Rectangle 5"/>
          <p:cNvSpPr/>
          <p:nvPr/>
        </p:nvSpPr>
        <p:spPr>
          <a:xfrm>
            <a:off x="731520" y="4114800"/>
            <a:ext cx="10515600" cy="18288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297680"/>
            <a:ext cx="9875520" cy="1371600"/>
          </a:xfrm>
          <a:prstGeom prst="rect">
            <a:avLst/>
          </a:prstGeom>
          <a:noFill/>
        </p:spPr>
        <p:txBody>
          <a:bodyPr wrap="square">
            <a:spAutoFit/>
          </a:bodyPr>
          <a:lstStyle/>
          <a:p>
            <a:pPr algn="l">
              <a:spcAft>
                <a:spcPts val="600"/>
              </a:spcAft>
              <a:defRPr sz="1800" b="1">
                <a:solidFill>
                  <a:srgbClr val="1E40AF"/>
                </a:solidFill>
                <a:latin typeface="Calibri"/>
              </a:defRPr>
            </a:pPr>
            <a:r>
              <a:t>Phase 2: Advanced Agentic Capabilities (Months 4-6)</a:t>
            </a:r>
          </a:p>
          <a:p>
            <a:pPr algn="l">
              <a:spcBef>
                <a:spcPts val="0"/>
              </a:spcBef>
              <a:spcAft>
                <a:spcPts val="600"/>
              </a:spcAft>
              <a:defRPr sz="1400" b="0">
                <a:solidFill>
                  <a:srgbClr val="334155"/>
                </a:solidFill>
                <a:latin typeface="Calibri"/>
              </a:defRPr>
            </a:pPr>
            <a:r>
              <a:t>• Activate the Maintenance Intelligence Engine for predictive RCA support.</a:t>
            </a:r>
            <a:br/>
            <a:r>
              <a:t>• Introduce Regulatory Compliance intelligence to auto-generate audit evidence.</a:t>
            </a:r>
            <a:br/>
            <a:r>
              <a:t>• Connect live telemetry to the knowledge graph.</a:t>
            </a:r>
          </a:p>
        </p:txBody>
      </p:sp>
      <p:sp>
        <p:nvSpPr>
          <p:cNvPr id="8" name="TextBox 7"/>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23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9144000" cy="731520"/>
          </a:xfrm>
          <a:prstGeom prst="rect">
            <a:avLst/>
          </a:prstGeom>
          <a:noFill/>
        </p:spPr>
        <p:txBody>
          <a:bodyPr wrap="square">
            <a:spAutoFit/>
          </a:bodyPr>
          <a:lstStyle/>
          <a:p>
            <a:pPr algn="l">
              <a:spcAft>
                <a:spcPts val="600"/>
              </a:spcAft>
              <a:defRPr sz="3600" b="1">
                <a:solidFill>
                  <a:srgbClr val="0F172A"/>
                </a:solidFill>
                <a:latin typeface="Calibri"/>
              </a:defRPr>
            </a:pPr>
            <a:r>
              <a:t>Roadmap Phase 3 &amp; ROI</a:t>
            </a:r>
          </a:p>
        </p:txBody>
      </p:sp>
      <p:sp>
        <p:nvSpPr>
          <p:cNvPr id="3" name="Rectangle 2"/>
          <p:cNvSpPr/>
          <p:nvPr/>
        </p:nvSpPr>
        <p:spPr>
          <a:xfrm>
            <a:off x="731520" y="1097280"/>
            <a:ext cx="1828800" cy="25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828800"/>
            <a:ext cx="10515600" cy="164592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011680"/>
            <a:ext cx="9875520" cy="1371600"/>
          </a:xfrm>
          <a:prstGeom prst="rect">
            <a:avLst/>
          </a:prstGeom>
          <a:noFill/>
        </p:spPr>
        <p:txBody>
          <a:bodyPr wrap="square">
            <a:spAutoFit/>
          </a:bodyPr>
          <a:lstStyle/>
          <a:p>
            <a:pPr algn="l">
              <a:spcAft>
                <a:spcPts val="600"/>
              </a:spcAft>
              <a:defRPr sz="1800" b="1">
                <a:solidFill>
                  <a:srgbClr val="B45309"/>
                </a:solidFill>
                <a:latin typeface="Calibri"/>
              </a:defRPr>
            </a:pPr>
            <a:r>
              <a:t>Phase 3: Scale &amp; Edge Mobility (Months 7-12)</a:t>
            </a:r>
          </a:p>
          <a:p>
            <a:pPr algn="l">
              <a:spcBef>
                <a:spcPts val="0"/>
              </a:spcBef>
              <a:spcAft>
                <a:spcPts val="600"/>
              </a:spcAft>
              <a:defRPr sz="1400" b="0">
                <a:solidFill>
                  <a:srgbClr val="334155"/>
                </a:solidFill>
                <a:latin typeface="Calibri"/>
              </a:defRPr>
            </a:pPr>
            <a:r>
              <a:t>• Scale horizontally to remaining plants via synchronized distributed servers.</a:t>
            </a:r>
            <a:br/>
            <a:r>
              <a:t>• Deploy mobile/tablet interfaces for field technicians to query data on-site.</a:t>
            </a:r>
            <a:br/>
            <a:r>
              <a:t>• Potential AR (Augmented Reality) integrations for schematic overlays.</a:t>
            </a:r>
          </a:p>
        </p:txBody>
      </p:sp>
      <p:sp>
        <p:nvSpPr>
          <p:cNvPr id="6" name="TextBox 5"/>
          <p:cNvSpPr txBox="1"/>
          <p:nvPr/>
        </p:nvSpPr>
        <p:spPr>
          <a:xfrm>
            <a:off x="731520" y="3840480"/>
            <a:ext cx="10515600" cy="457200"/>
          </a:xfrm>
          <a:prstGeom prst="rect">
            <a:avLst/>
          </a:prstGeom>
          <a:noFill/>
        </p:spPr>
        <p:txBody>
          <a:bodyPr wrap="square">
            <a:spAutoFit/>
          </a:bodyPr>
          <a:lstStyle/>
          <a:p>
            <a:pPr algn="l">
              <a:spcAft>
                <a:spcPts val="600"/>
              </a:spcAft>
              <a:defRPr sz="2000" b="1">
                <a:solidFill>
                  <a:srgbClr val="0F172A"/>
                </a:solidFill>
                <a:latin typeface="Calibri"/>
              </a:defRPr>
            </a:pPr>
            <a:r>
              <a:t>Value Proposition &amp; Return on Investment</a:t>
            </a:r>
          </a:p>
        </p:txBody>
      </p:sp>
      <p:sp>
        <p:nvSpPr>
          <p:cNvPr id="7" name="Rounded Rectangle 6"/>
          <p:cNvSpPr/>
          <p:nvPr/>
        </p:nvSpPr>
        <p:spPr>
          <a:xfrm>
            <a:off x="731520" y="4572000"/>
            <a:ext cx="3291840" cy="1371600"/>
          </a:xfrm>
          <a:prstGeom prst="roundRect">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754880"/>
            <a:ext cx="3108960" cy="365760"/>
          </a:xfrm>
          <a:prstGeom prst="rect">
            <a:avLst/>
          </a:prstGeom>
          <a:noFill/>
        </p:spPr>
        <p:txBody>
          <a:bodyPr wrap="square">
            <a:spAutoFit/>
          </a:bodyPr>
          <a:lstStyle/>
          <a:p>
            <a:pPr algn="ctr">
              <a:spcAft>
                <a:spcPts val="600"/>
              </a:spcAft>
              <a:defRPr sz="2800" b="1">
                <a:solidFill>
                  <a:srgbClr val="0F766E"/>
                </a:solidFill>
                <a:latin typeface="Calibri"/>
              </a:defRPr>
            </a:pPr>
            <a:r>
              <a:t>35% → 5%</a:t>
            </a:r>
          </a:p>
        </p:txBody>
      </p:sp>
      <p:sp>
        <p:nvSpPr>
          <p:cNvPr id="9" name="TextBox 8"/>
          <p:cNvSpPr txBox="1"/>
          <p:nvPr/>
        </p:nvSpPr>
        <p:spPr>
          <a:xfrm>
            <a:off x="822960" y="5303520"/>
            <a:ext cx="3108960" cy="548640"/>
          </a:xfrm>
          <a:prstGeom prst="rect">
            <a:avLst/>
          </a:prstGeom>
          <a:noFill/>
        </p:spPr>
        <p:txBody>
          <a:bodyPr wrap="square">
            <a:spAutoFit/>
          </a:bodyPr>
          <a:lstStyle/>
          <a:p>
            <a:pPr algn="ctr">
              <a:spcAft>
                <a:spcPts val="600"/>
              </a:spcAft>
              <a:defRPr sz="1200" b="0">
                <a:solidFill>
                  <a:srgbClr val="334155"/>
                </a:solidFill>
                <a:latin typeface="Calibri"/>
              </a:defRPr>
            </a:pPr>
            <a:r>
              <a:t>Reduction in time spent searching for information.</a:t>
            </a:r>
          </a:p>
        </p:txBody>
      </p:sp>
      <p:sp>
        <p:nvSpPr>
          <p:cNvPr id="10" name="Rounded Rectangle 9"/>
          <p:cNvSpPr/>
          <p:nvPr/>
        </p:nvSpPr>
        <p:spPr>
          <a:xfrm>
            <a:off x="4389120" y="4572000"/>
            <a:ext cx="3291840" cy="1371600"/>
          </a:xfrm>
          <a:prstGeom prst="roundRect">
            <a:avLst/>
          </a:prstGeom>
          <a:solidFill>
            <a:srgbClr val="FFFFFF"/>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4754880"/>
            <a:ext cx="3108960" cy="365760"/>
          </a:xfrm>
          <a:prstGeom prst="rect">
            <a:avLst/>
          </a:prstGeom>
          <a:noFill/>
        </p:spPr>
        <p:txBody>
          <a:bodyPr wrap="square">
            <a:spAutoFit/>
          </a:bodyPr>
          <a:lstStyle/>
          <a:p>
            <a:pPr algn="ctr">
              <a:spcAft>
                <a:spcPts val="600"/>
              </a:spcAft>
              <a:defRPr sz="2800" b="1">
                <a:solidFill>
                  <a:srgbClr val="1E40AF"/>
                </a:solidFill>
                <a:latin typeface="Calibri"/>
              </a:defRPr>
            </a:pPr>
            <a:r>
              <a:t>-15%</a:t>
            </a:r>
          </a:p>
        </p:txBody>
      </p:sp>
      <p:sp>
        <p:nvSpPr>
          <p:cNvPr id="12" name="TextBox 11"/>
          <p:cNvSpPr txBox="1"/>
          <p:nvPr/>
        </p:nvSpPr>
        <p:spPr>
          <a:xfrm>
            <a:off x="4480560" y="5303520"/>
            <a:ext cx="3108960" cy="548640"/>
          </a:xfrm>
          <a:prstGeom prst="rect">
            <a:avLst/>
          </a:prstGeom>
          <a:noFill/>
        </p:spPr>
        <p:txBody>
          <a:bodyPr wrap="square">
            <a:spAutoFit/>
          </a:bodyPr>
          <a:lstStyle/>
          <a:p>
            <a:pPr algn="ctr">
              <a:spcAft>
                <a:spcPts val="600"/>
              </a:spcAft>
              <a:defRPr sz="1200" b="0">
                <a:solidFill>
                  <a:srgbClr val="334155"/>
                </a:solidFill>
                <a:latin typeface="Calibri"/>
              </a:defRPr>
            </a:pPr>
            <a:r>
              <a:t>Estimated decrease in unplanned downtime.</a:t>
            </a:r>
          </a:p>
        </p:txBody>
      </p:sp>
      <p:sp>
        <p:nvSpPr>
          <p:cNvPr id="13" name="Rounded Rectangle 12"/>
          <p:cNvSpPr/>
          <p:nvPr/>
        </p:nvSpPr>
        <p:spPr>
          <a:xfrm>
            <a:off x="8046720" y="4572000"/>
            <a:ext cx="3291840" cy="137160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4754880"/>
            <a:ext cx="3108960" cy="365760"/>
          </a:xfrm>
          <a:prstGeom prst="rect">
            <a:avLst/>
          </a:prstGeom>
          <a:noFill/>
        </p:spPr>
        <p:txBody>
          <a:bodyPr wrap="square">
            <a:spAutoFit/>
          </a:bodyPr>
          <a:lstStyle/>
          <a:p>
            <a:pPr algn="ctr">
              <a:spcAft>
                <a:spcPts val="600"/>
              </a:spcAft>
              <a:defRPr sz="2800" b="1">
                <a:solidFill>
                  <a:srgbClr val="B45309"/>
                </a:solidFill>
                <a:latin typeface="Calibri"/>
              </a:defRPr>
            </a:pPr>
            <a:r>
              <a:t>100%</a:t>
            </a:r>
          </a:p>
        </p:txBody>
      </p:sp>
      <p:sp>
        <p:nvSpPr>
          <p:cNvPr id="15" name="TextBox 14"/>
          <p:cNvSpPr txBox="1"/>
          <p:nvPr/>
        </p:nvSpPr>
        <p:spPr>
          <a:xfrm>
            <a:off x="8138160" y="5303520"/>
            <a:ext cx="3108960" cy="548640"/>
          </a:xfrm>
          <a:prstGeom prst="rect">
            <a:avLst/>
          </a:prstGeom>
          <a:noFill/>
        </p:spPr>
        <p:txBody>
          <a:bodyPr wrap="square">
            <a:spAutoFit/>
          </a:bodyPr>
          <a:lstStyle/>
          <a:p>
            <a:pPr algn="ctr">
              <a:spcAft>
                <a:spcPts val="600"/>
              </a:spcAft>
              <a:defRPr sz="1200" b="0">
                <a:solidFill>
                  <a:srgbClr val="334155"/>
                </a:solidFill>
                <a:latin typeface="Calibri"/>
              </a:defRPr>
            </a:pPr>
            <a:r>
              <a:t>Retention of institutional knowledge from retiring experts.</a:t>
            </a:r>
          </a:p>
        </p:txBody>
      </p:sp>
      <p:sp>
        <p:nvSpPr>
          <p:cNvPr id="16" name="TextBox 1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24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2743200" cy="1645920"/>
          </a:xfrm>
          <a:prstGeom prst="rect">
            <a:avLst/>
          </a:prstGeom>
          <a:noFill/>
        </p:spPr>
        <p:txBody>
          <a:bodyPr wrap="square">
            <a:spAutoFit/>
          </a:bodyPr>
          <a:lstStyle/>
          <a:p>
            <a:pPr algn="l">
              <a:spcAft>
                <a:spcPts val="600"/>
              </a:spcAft>
              <a:defRPr sz="8000" b="1">
                <a:solidFill>
                  <a:srgbClr val="B91C1C"/>
                </a:solidFill>
                <a:latin typeface="Calibri"/>
              </a:defRPr>
            </a:pPr>
            <a:r>
              <a:t>06</a:t>
            </a:r>
          </a:p>
        </p:txBody>
      </p:sp>
      <p:sp>
        <p:nvSpPr>
          <p:cNvPr id="3" name="Rectangle 2"/>
          <p:cNvSpPr/>
          <p:nvPr/>
        </p:nvSpPr>
        <p:spPr>
          <a:xfrm>
            <a:off x="731520" y="301752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91840"/>
            <a:ext cx="10058400" cy="1371600"/>
          </a:xfrm>
          <a:prstGeom prst="rect">
            <a:avLst/>
          </a:prstGeom>
          <a:noFill/>
        </p:spPr>
        <p:txBody>
          <a:bodyPr wrap="square">
            <a:spAutoFit/>
          </a:bodyPr>
          <a:lstStyle/>
          <a:p>
            <a:pPr algn="l">
              <a:spcAft>
                <a:spcPts val="600"/>
              </a:spcAft>
              <a:defRPr sz="4400" b="1">
                <a:solidFill>
                  <a:srgbClr val="0F172A"/>
                </a:solidFill>
                <a:latin typeface="Calibri"/>
              </a:defRPr>
            </a:pPr>
            <a:r>
              <a:t>Results</a:t>
            </a:r>
          </a:p>
        </p:txBody>
      </p:sp>
      <p:sp>
        <p:nvSpPr>
          <p:cNvPr id="5" name="TextBox 4"/>
          <p:cNvSpPr txBox="1"/>
          <p:nvPr/>
        </p:nvSpPr>
        <p:spPr>
          <a:xfrm>
            <a:off x="731520" y="4754880"/>
            <a:ext cx="9144000" cy="1097280"/>
          </a:xfrm>
          <a:prstGeom prst="rect">
            <a:avLst/>
          </a:prstGeom>
          <a:noFill/>
        </p:spPr>
        <p:txBody>
          <a:bodyPr wrap="square">
            <a:spAutoFit/>
          </a:bodyPr>
          <a:lstStyle/>
          <a:p>
            <a:pPr algn="l">
              <a:spcAft>
                <a:spcPts val="600"/>
              </a:spcAft>
              <a:defRPr sz="1800" b="0">
                <a:solidFill>
                  <a:srgbClr val="64748B"/>
                </a:solidFill>
                <a:latin typeface="Calibri"/>
              </a:defRPr>
            </a:pPr>
            <a:r>
              <a:t>Showcasing the Cypher UI and capabilities.</a:t>
            </a:r>
          </a:p>
        </p:txBody>
      </p:sp>
      <p:sp>
        <p:nvSpPr>
          <p:cNvPr id="6" name="Rounded Rectangle 5"/>
          <p:cNvSpPr/>
          <p:nvPr/>
        </p:nvSpPr>
        <p:spPr>
          <a:xfrm>
            <a:off x="11704320" y="0"/>
            <a:ext cx="487375" cy="685800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25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Universal Document Ingestion &amp; Search</a:t>
            </a:r>
          </a:p>
        </p:txBody>
      </p:sp>
      <p:sp>
        <p:nvSpPr>
          <p:cNvPr id="3" name="Rectangle 2"/>
          <p:cNvSpPr/>
          <p:nvPr/>
        </p:nvSpPr>
        <p:spPr>
          <a:xfrm>
            <a:off x="731520" y="1097280"/>
            <a:ext cx="1828800" cy="254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4572000"/>
          </a:xfrm>
          <a:prstGeom prst="roundRect">
            <a:avLst/>
          </a:prstGeom>
          <a:solidFill>
            <a:srgbClr val="F1F5F9"/>
          </a:solidFill>
          <a:ln w="19050">
            <a:solidFill>
              <a:srgbClr val="1E40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515600" cy="914400"/>
          </a:xfrm>
          <a:prstGeom prst="rect">
            <a:avLst/>
          </a:prstGeom>
          <a:noFill/>
        </p:spPr>
        <p:txBody>
          <a:bodyPr wrap="square">
            <a:spAutoFit/>
          </a:bodyPr>
          <a:lstStyle/>
          <a:p>
            <a:pPr algn="ctr">
              <a:spcAft>
                <a:spcPts val="600"/>
              </a:spcAft>
              <a:defRPr sz="2000" b="1">
                <a:solidFill>
                  <a:srgbClr val="64748B"/>
                </a:solidFill>
                <a:latin typeface="Calibri"/>
              </a:defRPr>
            </a:pPr>
            <a:r>
              <a:t>[ PLACEHOLDER: Screenshot of Document Ingestion/Search UI ]</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26 / 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Knowledge Graph Integration</a:t>
            </a:r>
          </a:p>
        </p:txBody>
      </p:sp>
      <p:sp>
        <p:nvSpPr>
          <p:cNvPr id="3" name="Rectangle 2"/>
          <p:cNvSpPr/>
          <p:nvPr/>
        </p:nvSpPr>
        <p:spPr>
          <a:xfrm>
            <a:off x="731520" y="1097280"/>
            <a:ext cx="1828800" cy="25400"/>
          </a:xfrm>
          <a:prstGeom prst="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4572000"/>
          </a:xfrm>
          <a:prstGeom prst="roundRect">
            <a:avLst/>
          </a:prstGeom>
          <a:solidFill>
            <a:srgbClr val="F1F5F9"/>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515600" cy="914400"/>
          </a:xfrm>
          <a:prstGeom prst="rect">
            <a:avLst/>
          </a:prstGeom>
          <a:noFill/>
        </p:spPr>
        <p:txBody>
          <a:bodyPr wrap="square">
            <a:spAutoFit/>
          </a:bodyPr>
          <a:lstStyle/>
          <a:p>
            <a:pPr algn="ctr">
              <a:spcAft>
                <a:spcPts val="600"/>
              </a:spcAft>
              <a:defRPr sz="2000" b="1">
                <a:solidFill>
                  <a:srgbClr val="64748B"/>
                </a:solidFill>
                <a:latin typeface="Calibri"/>
              </a:defRPr>
            </a:pPr>
            <a:r>
              <a:t>[ PLACEHOLDER: Screenshot of Neo4j Graph Network/Visualization ]</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27 / 25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Expert Knowledge Copilot</a:t>
            </a:r>
          </a:p>
        </p:txBody>
      </p:sp>
      <p:sp>
        <p:nvSpPr>
          <p:cNvPr id="3" name="Rectangle 2"/>
          <p:cNvSpPr/>
          <p:nvPr/>
        </p:nvSpPr>
        <p:spPr>
          <a:xfrm>
            <a:off x="731520" y="1097280"/>
            <a:ext cx="1828800" cy="25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4572000"/>
          </a:xfrm>
          <a:prstGeom prst="roundRect">
            <a:avLst/>
          </a:prstGeom>
          <a:solidFill>
            <a:srgbClr val="F1F5F9"/>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515600" cy="914400"/>
          </a:xfrm>
          <a:prstGeom prst="rect">
            <a:avLst/>
          </a:prstGeom>
          <a:noFill/>
        </p:spPr>
        <p:txBody>
          <a:bodyPr wrap="square">
            <a:spAutoFit/>
          </a:bodyPr>
          <a:lstStyle/>
          <a:p>
            <a:pPr algn="ctr">
              <a:spcAft>
                <a:spcPts val="600"/>
              </a:spcAft>
              <a:defRPr sz="2000" b="1">
                <a:solidFill>
                  <a:srgbClr val="64748B"/>
                </a:solidFill>
                <a:latin typeface="Calibri"/>
              </a:defRPr>
            </a:pPr>
            <a:r>
              <a:t>[ PLACEHOLDER: Screenshot of Chat UI answering a complex query with citations ]</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28 / 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7315200" cy="731520"/>
          </a:xfrm>
          <a:prstGeom prst="rect">
            <a:avLst/>
          </a:prstGeom>
          <a:noFill/>
        </p:spPr>
        <p:txBody>
          <a:bodyPr wrap="square">
            <a:spAutoFit/>
          </a:bodyPr>
          <a:lstStyle/>
          <a:p>
            <a:pPr algn="l">
              <a:spcAft>
                <a:spcPts val="600"/>
              </a:spcAft>
              <a:defRPr sz="3600" b="1">
                <a:solidFill>
                  <a:srgbClr val="0F172A"/>
                </a:solidFill>
                <a:latin typeface="Calibri"/>
              </a:defRPr>
            </a:pPr>
            <a:r>
              <a:t>Performance &amp; GPU Metrics</a:t>
            </a:r>
          </a:p>
        </p:txBody>
      </p:sp>
      <p:sp>
        <p:nvSpPr>
          <p:cNvPr id="3" name="Rectangle 2"/>
          <p:cNvSpPr/>
          <p:nvPr/>
        </p:nvSpPr>
        <p:spPr>
          <a:xfrm>
            <a:off x="731520" y="1097280"/>
            <a:ext cx="1828800" cy="25400"/>
          </a:xfrm>
          <a:prstGeom prst="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4572000"/>
          </a:xfrm>
          <a:prstGeom prst="roundRect">
            <a:avLst/>
          </a:prstGeom>
          <a:solidFill>
            <a:srgbClr val="F1F5F9"/>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0"/>
            <a:ext cx="10515600" cy="914400"/>
          </a:xfrm>
          <a:prstGeom prst="rect">
            <a:avLst/>
          </a:prstGeom>
          <a:noFill/>
        </p:spPr>
        <p:txBody>
          <a:bodyPr wrap="square">
            <a:spAutoFit/>
          </a:bodyPr>
          <a:lstStyle/>
          <a:p>
            <a:pPr algn="ctr">
              <a:spcAft>
                <a:spcPts val="600"/>
              </a:spcAft>
              <a:defRPr sz="2000" b="1">
                <a:solidFill>
                  <a:srgbClr val="64748B"/>
                </a:solidFill>
                <a:latin typeface="Calibri"/>
              </a:defRPr>
            </a:pPr>
            <a:r>
              <a:t>[ PLACEHOLDER: Screenshot of terminal logs or dashboard showing inference speed/VRAM ]</a:t>
            </a:r>
          </a:p>
        </p:txBody>
      </p:sp>
      <p:sp>
        <p:nvSpPr>
          <p:cNvPr id="6" name="TextBox 5"/>
          <p:cNvSpPr txBox="1"/>
          <p:nvPr/>
        </p:nvSpPr>
        <p:spPr>
          <a:xfrm>
            <a:off x="10515600" y="6400800"/>
            <a:ext cx="1371600" cy="365760"/>
          </a:xfrm>
          <a:prstGeom prst="rect">
            <a:avLst/>
          </a:prstGeom>
          <a:noFill/>
        </p:spPr>
        <p:txBody>
          <a:bodyPr wrap="square">
            <a:spAutoFit/>
          </a:bodyPr>
          <a:lstStyle/>
          <a:p>
            <a:pPr algn="r">
              <a:spcAft>
                <a:spcPts val="600"/>
              </a:spcAft>
              <a:defRPr sz="1000" b="0">
                <a:solidFill>
                  <a:srgbClr val="64748B"/>
                </a:solidFill>
                <a:latin typeface="Calibri"/>
              </a:defRPr>
            </a:pPr>
            <a:r>
              <a:t>29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